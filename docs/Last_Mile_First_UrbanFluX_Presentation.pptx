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1 (TITLE &amp; EXECUTIVE VISION):</a:t>
            </a:r>
          </a:p>
          <a:p>
            <a:r>
              <a:t>"Good morning, esteemed jury. We are Team UrbanFluX, and our project is titled 'Last-Mile First: Algorithmic Feeder Zone Optimization'.</a:t>
            </a:r>
          </a:p>
          <a:p>
            <a:r>
              <a:t>Mass rapid transit is the backbone of sustainable urban mobility, yet in cities like Bengaluru, millions of citizens remain stranded. Our empirical investigation tackles this exact problem.</a:t>
            </a:r>
          </a:p>
          <a:p>
            <a:r>
              <a:t>We conducted a granular ground-truth pilot across the 10-station Whitefield tech corridor, analyzing 453,687 residents across 572 H3 hexagons. To prove true operational readiness, we also scaled the exact mathematical pipeline to all 83 operational BMRCL metro stations across 4.29 million residents.</a:t>
            </a:r>
          </a:p>
          <a:p>
            <a:r>
              <a:t>Our core finding: while pedestrian walking reaches only 14.6% in Whitefield and 22.3% citywide, road-class filtered electric micromobility unlocks nearly 900,000 new commuters within a 15-minute budget.</a:t>
            </a:r>
          </a:p>
          <a:p>
            <a:r>
              <a:t>Everything we present today is backed by frozen mathematical code, open geospatial data, and a live web application deployed on Streamlit Cloud."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2 (THE PROBLEM &amp; FIRST-AND-LAST-MILE CHASM):</a:t>
            </a:r>
          </a:p>
          <a:p>
            <a:r>
              <a:t>"Judges, take a look at the bar chart on the left. This represents the empirical reality of the Whitefield metro corridor.</a:t>
            </a:r>
          </a:p>
          <a:p>
            <a:r>
              <a:t>There are 453,687 residents living within 3 km of these 10 stations. Yet at a standard walking speed of 4.5 km/h and a 15-minute commute budget, only 66,417 people—a meager 14.6%—can reach a metro station on foot.</a:t>
            </a:r>
          </a:p>
          <a:p>
            <a:r>
              <a:t>Over 387,000 residents, or 85.4% of the population, are stranded in a transit desert.</a:t>
            </a:r>
          </a:p>
          <a:p>
            <a:r>
              <a:t>Even if we stretch commuter willingness-to-walk to 20 minutes following the WRI STAMP benchmark, walking captures just 24.3%. That means over 343,000 people still cannot walk to the metro.</a:t>
            </a:r>
          </a:p>
          <a:p>
            <a:r>
              <a:t>Because the last mile is broken, people drive cars and ride motorbikes to work, causing infamous traffic gridlocks on Whitefield Main Road.</a:t>
            </a:r>
          </a:p>
          <a:p>
            <a:r>
              <a:t>Our project asks a definitive question: Can we mathematically optimize electric feeder micromobility to unlock this trapped population?"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3 (MULTI-MODAL ACCESSIBILITY &amp; ISOCHRONES):</a:t>
            </a:r>
          </a:p>
          <a:p>
            <a:r>
              <a:t>"Judges, Figure 1 on the left displays our spatial isochrone catchment modeling across the 10-station pilot.</a:t>
            </a:r>
          </a:p>
          <a:p>
            <a:r>
              <a:t>In Panel A, showing the 15-minute commute budget:</a:t>
            </a:r>
          </a:p>
          <a:p>
            <a:r>
              <a:t>The dark blue polygons show where you can walk. Notice how tightly constrained they are—strictly within 1 km of station entrances, reaching only 66,417 people.</a:t>
            </a:r>
          </a:p>
          <a:p>
            <a:r>
              <a:t>Now look at the emerald green polygons. That is our e-bike doorstep catchment, modeled conservatively at 13.5 km/h on OSMnx street networks, including a realistic 5-minute vehicle unlock and parking latency.</a:t>
            </a:r>
          </a:p>
          <a:p>
            <a:r>
              <a:t>E-bikes immediately unlock +63,214 additional residents—an uplift of +14.0%.</a:t>
            </a:r>
          </a:p>
          <a:p>
            <a:r>
              <a:t>When combined (Walk union E-Bike), total active reach reaches 129,631 people (28.6%), effectively doubling transit accessibility without buying a single new metro coach.</a:t>
            </a:r>
          </a:p>
          <a:p>
            <a:r>
              <a:t>When we examine Panel B at T = 20 minutes—the standard tolerance benchmark from WRI STAMP—active mobility reaches 171,061 residents (37.7%), creating a continuous, inter-connected mobility corridor."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4 (SUBMODULAR HUB SITING &amp; OPTIMIZATION):</a:t>
            </a:r>
          </a:p>
          <a:p>
            <a:r>
              <a:t>"Judges, a major flaw in many hackathon presentations is placing feeder docks randomly or uniformly.</a:t>
            </a:r>
          </a:p>
          <a:p>
            <a:r>
              <a:t>In UrbanFluX, we solved the facility location problem mathematically using Submodular Maximum Coverage.</a:t>
            </a:r>
          </a:p>
          <a:p>
            <a:r>
              <a:t>We extracted 881 legitimate candidate street intersections from the OpenStreetMap road graph within the corridor.</a:t>
            </a:r>
          </a:p>
          <a:p>
            <a:r>
              <a:t>Because population coverage exhibits diminishing marginal returns, our objective function is monotone submodular.</a:t>
            </a:r>
          </a:p>
          <a:p>
            <a:r>
              <a:t>By applying a greedy heuristic, we are mathematically guaranteed to achieve at least (1 - 1/e), or 63.2%, of the theoretical global optimum.</a:t>
            </a:r>
          </a:p>
          <a:p>
            <a:r>
              <a:t>Look at the gain curve in Figure 5. Siting the top 15 feeder hubs captures 42,752 residents.</a:t>
            </a:r>
          </a:p>
          <a:p>
            <a:r>
              <a:t>Crucially, look at where the curve bends—the 'knee' around k = 15. Beyond 15 hubs, the marginal population gained per dock drops off sharply.</a:t>
            </a:r>
          </a:p>
          <a:p>
            <a:r>
              <a:t>This gives municipal planners an exact capital allocation guideline: build physical solar charging docks for the top 15 sites, and handle the rest through low-cost geofenced virtual parking zones."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5 (STATION PRIORITIZATION &amp; THE HOPEFARM PARADOX):</a:t>
            </a:r>
          </a:p>
          <a:p>
            <a:r>
              <a:t>"Judges, one of the most critical contributions of our research is what we call 'The Hopefarm Paradox'.</a:t>
            </a:r>
          </a:p>
          <a:p>
            <a:r>
              <a:t>Look at the slope chart in Figure 6. On the left is Pure Transit Need (unserved population living &gt;15m walk). On the right is Official BMRCL Daily Ridership from RTI disclosures.</a:t>
            </a:r>
          </a:p>
          <a:p>
            <a:r>
              <a:t>Notice Hopefarm Channasandra: it ranks #2 in transit need with 44,570 unserved residents. Yet it ranks #8 in daily ridership with only 6,218 boardings.</a:t>
            </a:r>
          </a:p>
          <a:p>
            <a:r>
              <a:t>Why? Because the Hopefarm road junction is notorious for gridlock, deterring commuters from even attempting to reach the station.</a:t>
            </a:r>
          </a:p>
          <a:p>
            <a:r>
              <a:t>If a transit authority allocates feeder bikes purely based on ridership, Hopefarm receives almost nothing. This penalizes the very communities that need first-mile transit most.</a:t>
            </a:r>
          </a:p>
          <a:p>
            <a:r>
              <a:t>To solve this, UrbanFluX formulated a composite priority metric: Unserved Need multiplied by the square root of Daily Boardings.</a:t>
            </a:r>
          </a:p>
          <a:p>
            <a:r>
              <a:t>The square root dampens ridership bias while preventing transit equity failures. Hopefarm rightly ascends to Rank #3 for immediate capital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6 (GROUND-TRUTH AUDITS &amp; PHYSICAL SEVERANCE):</a:t>
            </a:r>
          </a:p>
          <a:p>
            <a:r>
              <a:t>"Judges, an algorithm that ignores real-world civil infrastructure is useless to city planners. We conducted rigorous ground-truth field audits on the physical network.</a:t>
            </a:r>
          </a:p>
          <a:p>
            <a:r>
              <a:t>Look at Figure 7 on the bottom left. Just north of Whitefield (Kadugodi) station runs the South Western Railway mainline.</a:t>
            </a:r>
          </a:p>
          <a:p>
            <a:r>
              <a:t>Commuters living in residential colonies north of the tracks face an impossible choice: an un-ramped 1.1 km pedestrian footbridge with steep stairs that cannot carry bicycles, or a dangerous 3.75 km vehicular detour.</a:t>
            </a:r>
          </a:p>
          <a:p>
            <a:r>
              <a:t>This severs 42 H3 hexagons from the station.</a:t>
            </a:r>
          </a:p>
          <a:p>
            <a:r>
              <a:t>Our engineering recommendation is low-cost and immediate: installing bicycle wheeling ramps on this pedestrian footbridge costs under ₹15 Lakhs and instantly brings 42 cells into the 15-minute active catchment.</a:t>
            </a:r>
          </a:p>
          <a:p>
            <a:r>
              <a:t>On the right, Figure 8 shows our Western Boundary Cordon Audit at Hoodi and Garudacharpalya. We proved that 17 boundary cells naturally belong to adjacent operational stations (Singayyanapalya and KR Puram), ensuring zero boundary distortion and 100% mathematical integrity."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7 (SENSITIVITY &amp; SAFETY FILTERING):</a:t>
            </a:r>
          </a:p>
          <a:p>
            <a:r>
              <a:t>"Judges, transport models are often criticized for being brittle black boxes that collapse when input parameters change.</a:t>
            </a:r>
          </a:p>
          <a:p>
            <a:r>
              <a:t>To ensure robustness, we ran a full 27-combination parametric sensitivity matrix, crossing e-bike speeds from 10 to 18 km/h against vehicle unlock and docking overhead from 2 to 8 minutes.</a:t>
            </a:r>
          </a:p>
          <a:p>
            <a:r>
              <a:t>Figure 4 presents these heatmaps.</a:t>
            </a:r>
          </a:p>
          <a:p>
            <a:r>
              <a:t>The key policy finding: catchment coverage is heavily sensitive to cycling speed and road quality, but relatively inelastic to app unlock overhead.</a:t>
            </a:r>
          </a:p>
          <a:p>
            <a:r>
              <a:t>Increasing cycling speed by just 3 km/h—through dedicated cycle lanes and traffic calming—yields over 4 times more newly accessible residents than cutting dock unlock latency in half!</a:t>
            </a:r>
          </a:p>
          <a:p>
            <a:r>
              <a:t>Furthermore, we enforced a strict road-class safety filter. We removed high-stress expressways and multi-lane flyovers from the routing graph. Feeder trips are only counted if they travel along safe residential, tertiary, and secondary streets."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8 (CITY-WIDE 83-STATION SCALING):</a:t>
            </a:r>
          </a:p>
          <a:p>
            <a:r>
              <a:t>"Judges, our pilot was not an isolated exercise. To demonstrate enterprise readiness, we ran our exact graph-theoretic pipeline across all 83 operational BMRCL stations covering the Purple and Green Lines.</a:t>
            </a:r>
          </a:p>
          <a:p>
            <a:r>
              <a:t>Look at the city-wide cartography in Figure 1.</a:t>
            </a:r>
          </a:p>
          <a:p>
            <a:r>
              <a:t>Across Bengaluru, 4.29 million people live within 3 km of a metro station. BMRCL serves over 704,000 daily riders.</a:t>
            </a:r>
          </a:p>
          <a:p>
            <a:r>
              <a:t>Yet pedestrian walking baseline is just 22.3% (957,972 residents).</a:t>
            </a:r>
          </a:p>
          <a:p>
            <a:r>
              <a:t>That means 3.33 million residents—77.7% of the catchment—are stranded beyond a 15-minute walk.</a:t>
            </a:r>
          </a:p>
          <a:p>
            <a:r>
              <a:t>Deploying our road-filtered e-micromobility framework brings +898,233 additional residents into the 15-minute catchment—a massive +21.0% citywide uplift.</a:t>
            </a:r>
          </a:p>
          <a:p>
            <a:r>
              <a:t>At T = 20 minutes, active reach expands to 2.95 million residents (68.7%).</a:t>
            </a:r>
          </a:p>
          <a:p>
            <a:r>
              <a:t>Furthermore, our citywide priority ranking surfaces Benniganahalli and Krishnarajapura as Bengaluru's #1 and #2 highest-return feeder hubs, capturing massive unserved Outer Ring Road commuter flows."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9 (DECISION PLATFORM &amp; LIVE DEMO):</a:t>
            </a:r>
          </a:p>
          <a:p>
            <a:r>
              <a:t>"Judges, our work is not just a research paper or a static PDF.</a:t>
            </a:r>
          </a:p>
          <a:p>
            <a:r>
              <a:t>We built a production-grade, interactive decision-support platform, deployed live on Streamlit Cloud at https://bengaluru-metro-feeder.streamlit.app.</a:t>
            </a:r>
          </a:p>
          <a:p>
            <a:r>
              <a:t>On screen, transport planners at DULT or BMRCL can interactively toggle between 15-minute and 20-minute travel budgets, inspect demographic breakdowns, and drag a slider to recalculate optimal feeder hub placement in real time.</a:t>
            </a:r>
          </a:p>
          <a:p>
            <a:r>
              <a:t>The application includes 9 dedicated screening screens, including station deep-dives, severance audits, and citywide scaling views.</a:t>
            </a:r>
          </a:p>
          <a:p>
            <a:r>
              <a:t>It is fast, responsive, fully cached from frozen artifacts, and provides one-click GIS vector exports in GeoJSON and GPKG formats so public works teams can load the coordinates directly into QGIS or AutoCAD."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SLIDE 10 (ROADMAP &amp; CONCLUSION):</a:t>
            </a:r>
          </a:p>
          <a:p>
            <a:r>
              <a:t>"Judges, to conclude, we translate our mathematical optimization into an actionable, 3-phase capital allocation roadmap for Bengaluru.</a:t>
            </a:r>
          </a:p>
          <a:p>
            <a:r>
              <a:t>Phase 1 (Months 1 to 3) requires just ₹1.2 Crores. We focus on low-cost civil tactical fixes: installing bicycle wheeling ramps on 12 railway and arterial footbridges, and creating painted geofenced parking bays at Top 10 priority stations. This immediately reconnects 42 severed cells.</a:t>
            </a:r>
          </a:p>
          <a:p>
            <a:r>
              <a:t>Phase 2 (Months 4 to 9) deploys 150 solar-powered charging docks placed precisely at our submodular algorithm coordinates, supporting 3,000 shared e-bikes via PPP concessions. This unlocks our +898,000 resident uplift.</a:t>
            </a:r>
          </a:p>
          <a:p>
            <a:r>
              <a:t>Phase 3 (Months 10 to 18) unifies ticketing: commuters get a single QR code or mobility card for their metro ride and their 15-minute e-bike feeder trip, paired with pop-up protected bike tracks along high-volume feeder radials.</a:t>
            </a:r>
          </a:p>
          <a:p>
            <a:r>
              <a:t>UrbanFluX provides a mathematically grounded, computationally scalable, and actionable roadmap to solve the last-mile chasm.</a:t>
            </a:r>
          </a:p>
          <a:p>
            <a:r>
              <a:t>Thank you,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731520"/>
            <a:ext cx="10728655" cy="457200"/>
          </a:xfrm>
          <a:prstGeom prst="rect">
            <a:avLst/>
          </a:prstGeom>
          <a:noFill/>
        </p:spPr>
        <p:txBody>
          <a:bodyPr wrap="none">
            <a:spAutoFit/>
          </a:bodyPr>
          <a:lstStyle/>
          <a:p>
            <a:pPr>
              <a:defRPr sz="1100" b="1">
                <a:solidFill>
                  <a:srgbClr val="0284C7"/>
                </a:solidFill>
                <a:latin typeface="Calibri"/>
              </a:defRPr>
            </a:pPr>
            <a:r>
              <a:t>SHIFT 2026 SUSTAINABLE E-MICROMOBILITY HACKATHON | IIT (BHU) VARANASI</a:t>
            </a:r>
          </a:p>
        </p:txBody>
      </p:sp>
      <p:sp>
        <p:nvSpPr>
          <p:cNvPr id="3" name="TextBox 2"/>
          <p:cNvSpPr txBox="1"/>
          <p:nvPr/>
        </p:nvSpPr>
        <p:spPr>
          <a:xfrm>
            <a:off x="731520" y="1143000"/>
            <a:ext cx="10728655" cy="1645920"/>
          </a:xfrm>
          <a:prstGeom prst="rect">
            <a:avLst/>
          </a:prstGeom>
          <a:noFill/>
        </p:spPr>
        <p:txBody>
          <a:bodyPr wrap="square">
            <a:spAutoFit/>
          </a:bodyPr>
          <a:lstStyle/>
          <a:p>
            <a:pPr>
              <a:spcAft>
                <a:spcPts val="800"/>
              </a:spcAft>
              <a:defRPr sz="3000" b="1">
                <a:solidFill>
                  <a:srgbClr val="FFFFFF"/>
                </a:solidFill>
                <a:latin typeface="Calibri"/>
              </a:defRPr>
            </a:pPr>
            <a:r>
              <a:t>LAST-MILE FIRST: ALGORITHMIC FEEDER ZONE OPTIMIZATION</a:t>
            </a:r>
          </a:p>
          <a:p>
            <a:pPr>
              <a:defRPr sz="1400">
                <a:solidFill>
                  <a:srgbClr val="94A3B8"/>
                </a:solidFill>
                <a:latin typeface="Calibri"/>
              </a:defRPr>
            </a:pPr>
            <a:r>
              <a:t>Multi-Modal Catchment Expansion, Submodular Greedy Feeder Siting &amp; Computational Scaling for Bengaluru Namma Metro</a:t>
            </a:r>
          </a:p>
        </p:txBody>
      </p:sp>
      <p:sp>
        <p:nvSpPr>
          <p:cNvPr id="4" name="TextBox 3"/>
          <p:cNvSpPr txBox="1"/>
          <p:nvPr/>
        </p:nvSpPr>
        <p:spPr>
          <a:xfrm>
            <a:off x="731520" y="2651760"/>
            <a:ext cx="10728655" cy="548640"/>
          </a:xfrm>
          <a:prstGeom prst="rect">
            <a:avLst/>
          </a:prstGeom>
          <a:noFill/>
        </p:spPr>
        <p:txBody>
          <a:bodyPr wrap="none">
            <a:spAutoFit/>
          </a:bodyPr>
          <a:lstStyle/>
          <a:p>
            <a:pPr>
              <a:defRPr sz="1150" b="1">
                <a:solidFill>
                  <a:srgbClr val="059669"/>
                </a:solidFill>
                <a:latin typeface="Calibri"/>
              </a:defRPr>
            </a:pPr>
            <a:r>
              <a:t>Developed by Team UrbanFluX   |   Whitefield 10-Station Ground Pilot + 83-Station City-Wide Rollout   |   October 2026</a:t>
            </a:r>
          </a:p>
        </p:txBody>
      </p:sp>
      <p:sp>
        <p:nvSpPr>
          <p:cNvPr id="5" name="Rounded Rectangle 4"/>
          <p:cNvSpPr/>
          <p:nvPr/>
        </p:nvSpPr>
        <p:spPr>
          <a:xfrm>
            <a:off x="731520" y="3383280"/>
            <a:ext cx="2542032" cy="160020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383280"/>
            <a:ext cx="73152" cy="160020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3474720"/>
            <a:ext cx="2313432" cy="1417320"/>
          </a:xfrm>
          <a:prstGeom prst="rect">
            <a:avLst/>
          </a:prstGeom>
          <a:noFill/>
        </p:spPr>
        <p:txBody>
          <a:bodyPr wrap="square" lIns="0" tIns="0" rIns="0" bIns="0">
            <a:spAutoFit/>
          </a:bodyPr>
          <a:lstStyle/>
          <a:p>
            <a:pPr>
              <a:spcAft>
                <a:spcPts val="200"/>
              </a:spcAft>
              <a:defRPr sz="850" b="1">
                <a:solidFill>
                  <a:srgbClr val="94A3B8"/>
                </a:solidFill>
                <a:latin typeface="Calibri"/>
              </a:defRPr>
            </a:pPr>
            <a:r>
              <a:t>10-STATION GROUND PILOT</a:t>
            </a:r>
          </a:p>
          <a:p>
            <a:pPr>
              <a:spcAft>
                <a:spcPts val="200"/>
              </a:spcAft>
              <a:defRPr sz="2000" b="1">
                <a:solidFill>
                  <a:srgbClr val="F1F5F9"/>
                </a:solidFill>
                <a:latin typeface="Calibri"/>
              </a:defRPr>
            </a:pPr>
            <a:r>
              <a:t>453,687</a:t>
            </a:r>
          </a:p>
          <a:p>
            <a:pPr>
              <a:defRPr sz="900" b="1">
                <a:solidFill>
                  <a:srgbClr val="0284C7"/>
                </a:solidFill>
                <a:latin typeface="Calibri"/>
              </a:defRPr>
            </a:pPr>
            <a:r>
              <a:t>14.6% walk baseline → 28.6% active</a:t>
            </a:r>
          </a:p>
        </p:txBody>
      </p:sp>
      <p:sp>
        <p:nvSpPr>
          <p:cNvPr id="8" name="Rounded Rectangle 7"/>
          <p:cNvSpPr/>
          <p:nvPr/>
        </p:nvSpPr>
        <p:spPr>
          <a:xfrm>
            <a:off x="3456432" y="3383280"/>
            <a:ext cx="2542032" cy="160020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56432" y="3383280"/>
            <a:ext cx="73152" cy="1600200"/>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3474720"/>
            <a:ext cx="2313432" cy="1417320"/>
          </a:xfrm>
          <a:prstGeom prst="rect">
            <a:avLst/>
          </a:prstGeom>
          <a:noFill/>
        </p:spPr>
        <p:txBody>
          <a:bodyPr wrap="square" lIns="0" tIns="0" rIns="0" bIns="0">
            <a:spAutoFit/>
          </a:bodyPr>
          <a:lstStyle/>
          <a:p>
            <a:pPr>
              <a:spcAft>
                <a:spcPts val="200"/>
              </a:spcAft>
              <a:defRPr sz="850" b="1">
                <a:solidFill>
                  <a:srgbClr val="94A3B8"/>
                </a:solidFill>
                <a:latin typeface="Calibri"/>
              </a:defRPr>
            </a:pPr>
            <a:r>
              <a:t>PILOT E-BIKE UPLIFT</a:t>
            </a:r>
          </a:p>
          <a:p>
            <a:pPr>
              <a:spcAft>
                <a:spcPts val="200"/>
              </a:spcAft>
              <a:defRPr sz="2000" b="1">
                <a:solidFill>
                  <a:srgbClr val="F1F5F9"/>
                </a:solidFill>
                <a:latin typeface="Calibri"/>
              </a:defRPr>
            </a:pPr>
            <a:r>
              <a:t>+63,214</a:t>
            </a:r>
          </a:p>
          <a:p>
            <a:pPr>
              <a:defRPr sz="900" b="1">
                <a:solidFill>
                  <a:srgbClr val="059669"/>
                </a:solidFill>
                <a:latin typeface="Calibri"/>
              </a:defRPr>
            </a:pPr>
            <a:r>
              <a:t>+14.0% new commuters at T=15m</a:t>
            </a:r>
          </a:p>
        </p:txBody>
      </p:sp>
      <p:sp>
        <p:nvSpPr>
          <p:cNvPr id="11" name="Rounded Rectangle 10"/>
          <p:cNvSpPr/>
          <p:nvPr/>
        </p:nvSpPr>
        <p:spPr>
          <a:xfrm>
            <a:off x="6181344" y="3383280"/>
            <a:ext cx="2542032" cy="160020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3383280"/>
            <a:ext cx="73152" cy="160020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3474720"/>
            <a:ext cx="2313432" cy="1417320"/>
          </a:xfrm>
          <a:prstGeom prst="rect">
            <a:avLst/>
          </a:prstGeom>
          <a:noFill/>
        </p:spPr>
        <p:txBody>
          <a:bodyPr wrap="square" lIns="0" tIns="0" rIns="0" bIns="0">
            <a:spAutoFit/>
          </a:bodyPr>
          <a:lstStyle/>
          <a:p>
            <a:pPr>
              <a:spcAft>
                <a:spcPts val="200"/>
              </a:spcAft>
              <a:defRPr sz="850" b="1">
                <a:solidFill>
                  <a:srgbClr val="94A3B8"/>
                </a:solidFill>
                <a:latin typeface="Calibri"/>
              </a:defRPr>
            </a:pPr>
            <a:r>
              <a:t>83-STATION CITY SCALE</a:t>
            </a:r>
          </a:p>
          <a:p>
            <a:pPr>
              <a:spcAft>
                <a:spcPts val="200"/>
              </a:spcAft>
              <a:defRPr sz="2000" b="1">
                <a:solidFill>
                  <a:srgbClr val="F1F5F9"/>
                </a:solidFill>
                <a:latin typeface="Calibri"/>
              </a:defRPr>
            </a:pPr>
            <a:r>
              <a:t>4.29M Pop</a:t>
            </a:r>
          </a:p>
          <a:p>
            <a:pPr>
              <a:defRPr sz="900" b="1">
                <a:solidFill>
                  <a:srgbClr val="D97706"/>
                </a:solidFill>
                <a:latin typeface="Calibri"/>
              </a:defRPr>
            </a:pPr>
            <a:r>
              <a:t>704,043 daily riders analyzed</a:t>
            </a:r>
          </a:p>
        </p:txBody>
      </p:sp>
      <p:sp>
        <p:nvSpPr>
          <p:cNvPr id="14" name="Rounded Rectangle 13"/>
          <p:cNvSpPr/>
          <p:nvPr/>
        </p:nvSpPr>
        <p:spPr>
          <a:xfrm>
            <a:off x="8906256" y="3383280"/>
            <a:ext cx="2542032" cy="160020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06256" y="3383280"/>
            <a:ext cx="73152" cy="160020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3474720"/>
            <a:ext cx="2313432" cy="1417320"/>
          </a:xfrm>
          <a:prstGeom prst="rect">
            <a:avLst/>
          </a:prstGeom>
          <a:noFill/>
        </p:spPr>
        <p:txBody>
          <a:bodyPr wrap="square" lIns="0" tIns="0" rIns="0" bIns="0">
            <a:spAutoFit/>
          </a:bodyPr>
          <a:lstStyle/>
          <a:p>
            <a:pPr>
              <a:spcAft>
                <a:spcPts val="200"/>
              </a:spcAft>
              <a:defRPr sz="850" b="1">
                <a:solidFill>
                  <a:srgbClr val="94A3B8"/>
                </a:solidFill>
                <a:latin typeface="Calibri"/>
              </a:defRPr>
            </a:pPr>
            <a:r>
              <a:t>CITY-WIDE ACTIVE UPLIFT</a:t>
            </a:r>
          </a:p>
          <a:p>
            <a:pPr>
              <a:spcAft>
                <a:spcPts val="200"/>
              </a:spcAft>
              <a:defRPr sz="2000" b="1">
                <a:solidFill>
                  <a:srgbClr val="F1F5F9"/>
                </a:solidFill>
                <a:latin typeface="Calibri"/>
              </a:defRPr>
            </a:pPr>
            <a:r>
              <a:t>+898,233</a:t>
            </a:r>
          </a:p>
          <a:p>
            <a:pPr>
              <a:defRPr sz="900" b="1">
                <a:solidFill>
                  <a:srgbClr val="0284C7"/>
                </a:solidFill>
                <a:latin typeface="Calibri"/>
              </a:defRPr>
            </a:pPr>
            <a:r>
              <a:t>+21.0% unlocked (+1.49M at T=20m)</a:t>
            </a:r>
          </a:p>
        </p:txBody>
      </p:sp>
      <p:sp>
        <p:nvSpPr>
          <p:cNvPr id="17" name="Rounded Rectangle 16"/>
          <p:cNvSpPr/>
          <p:nvPr/>
        </p:nvSpPr>
        <p:spPr>
          <a:xfrm>
            <a:off x="731520" y="5257800"/>
            <a:ext cx="10728655" cy="82296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49240"/>
            <a:ext cx="10362895" cy="640080"/>
          </a:xfrm>
          <a:prstGeom prst="rect">
            <a:avLst/>
          </a:prstGeom>
          <a:noFill/>
        </p:spPr>
        <p:txBody>
          <a:bodyPr wrap="square">
            <a:spAutoFit/>
          </a:bodyPr>
          <a:lstStyle/>
          <a:p>
            <a:pPr>
              <a:spcAft>
                <a:spcPts val="200"/>
              </a:spcAft>
              <a:defRPr sz="1200" b="1">
                <a:solidFill>
                  <a:srgbClr val="0284C7"/>
                </a:solidFill>
                <a:latin typeface="Calibri"/>
              </a:defRPr>
            </a:pPr>
            <a:r>
              <a:t>🌐 LIVE PRODUCTION PLATFORM: https://bengaluru-metro-feeder.streamlit.app</a:t>
            </a:r>
          </a:p>
          <a:p>
            <a:pPr>
              <a:defRPr sz="1000">
                <a:solidFill>
                  <a:srgbClr val="94A3B8"/>
                </a:solidFill>
                <a:latin typeface="Calibri"/>
              </a:defRPr>
            </a:pPr>
            <a:r>
              <a:t>Open-Source Repository: https://github.com/userface1015-lang/last-mile-first-urbanflux   |   Submodular Optimization: (1 - 1/e) guarantee</a:t>
            </a:r>
          </a:p>
        </p:txBody>
      </p:sp>
      <p:sp>
        <p:nvSpPr>
          <p:cNvPr id="19" name="Rectangle 18"/>
          <p:cNvSpPr/>
          <p:nvPr/>
        </p:nvSpPr>
        <p:spPr>
          <a:xfrm>
            <a:off x="731520" y="6400800"/>
            <a:ext cx="10728655" cy="13716"/>
          </a:xfrm>
          <a:prstGeom prst="rect">
            <a:avLst/>
          </a:prstGeom>
          <a:solidFill>
            <a:srgbClr val="1E2945"/>
          </a:solidFill>
          <a:ln>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Calibri"/>
              </a:defRPr>
            </a:pPr>
            <a:r>
              <a:t>SHIFT 2026 Sustainable e-Micromobility Hackathon | IIT (BHU) Varanasi   |   Team UrbanFluX   |   Live Platform: https://bengaluru-metro-feeder.streamlit.app   |   Slide 1 of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PROBLEM FORMULATION &amp; PILOT BASELINE</a:t>
            </a:r>
          </a:p>
          <a:p>
            <a:pPr>
              <a:spcAft>
                <a:spcPts val="300"/>
              </a:spcAft>
              <a:defRPr sz="2100" b="1">
                <a:solidFill>
                  <a:srgbClr val="0F172A"/>
                </a:solidFill>
                <a:latin typeface="Calibri"/>
              </a:defRPr>
            </a:pPr>
            <a:r>
              <a:t>The First-and-Last-Mile Chasm: Rapid Transit Without Access</a:t>
            </a:r>
          </a:p>
          <a:p>
            <a:pPr>
              <a:defRPr sz="1100">
                <a:solidFill>
                  <a:srgbClr val="64748B"/>
                </a:solidFill>
                <a:latin typeface="Calibri"/>
              </a:defRPr>
            </a:pPr>
            <a:r>
              <a:t>In Bengaluru's premier suburban IT corridor, over 85% of residents live beyond walking distance of the metro</a:t>
            </a:r>
          </a:p>
        </p:txBody>
      </p:sp>
      <p:sp>
        <p:nvSpPr>
          <p:cNvPr id="3" name="Rounded Rectangle 2"/>
          <p:cNvSpPr/>
          <p:nvPr/>
        </p:nvSpPr>
        <p:spPr>
          <a:xfrm>
            <a:off x="731520" y="1554480"/>
            <a:ext cx="53035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2_coverage_bars_T15_T20.png"/>
          <p:cNvPicPr>
            <a:picLocks noChangeAspect="1"/>
          </p:cNvPicPr>
          <p:nvPr/>
        </p:nvPicPr>
        <p:blipFill>
          <a:blip r:embed="rId2"/>
          <a:stretch>
            <a:fillRect/>
          </a:stretch>
        </p:blipFill>
        <p:spPr>
          <a:xfrm>
            <a:off x="822960" y="2435352"/>
            <a:ext cx="5120640" cy="2901696"/>
          </a:xfrm>
          <a:prstGeom prst="rect">
            <a:avLst/>
          </a:prstGeom>
        </p:spPr>
      </p:pic>
      <p:sp>
        <p:nvSpPr>
          <p:cNvPr id="5" name="Rounded Rectangle 4"/>
          <p:cNvSpPr/>
          <p:nvPr/>
        </p:nvSpPr>
        <p:spPr>
          <a:xfrm>
            <a:off x="6217920" y="1554480"/>
            <a:ext cx="52422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45920"/>
            <a:ext cx="4876495" cy="1234440"/>
          </a:xfrm>
          <a:prstGeom prst="rect">
            <a:avLst/>
          </a:prstGeom>
          <a:noFill/>
        </p:spPr>
        <p:txBody>
          <a:bodyPr wrap="square">
            <a:spAutoFit/>
          </a:bodyPr>
          <a:lstStyle/>
          <a:p>
            <a:pPr>
              <a:spcAft>
                <a:spcPts val="300"/>
              </a:spcAft>
              <a:defRPr b="1" sz="1200">
                <a:solidFill>
                  <a:srgbClr val="DC2626"/>
                </a:solidFill>
              </a:defRPr>
            </a:pPr>
            <a:r>
              <a:t>🚶 The 15-Minute Pedestrian Desert (Walk Baseline)</a:t>
            </a:r>
          </a:p>
          <a:p>
            <a:pPr>
              <a:defRPr sz="950">
                <a:solidFill>
                  <a:srgbClr val="0F172A"/>
                </a:solidFill>
              </a:defRPr>
            </a:pPr>
            <a:r>
              <a:t>• Corridor Buffer Population: 453,687 residents across 572 H3 Res-9 cells.</a:t>
            </a:r>
            <a:br/>
            <a:r>
              <a:t>• Walk Baseline (4.5 km/h, T=15 min): Reaches ONLY 66,417 residents (14.64%).</a:t>
            </a:r>
            <a:br/>
            <a:r>
              <a:t>• The Transit Desert: 387,270 residents (85.36%) cannot physically walk to mass transit within a standard pedestrian commute budget.</a:t>
            </a:r>
          </a:p>
        </p:txBody>
      </p:sp>
      <p:sp>
        <p:nvSpPr>
          <p:cNvPr id="7" name="Rounded Rectangle 6"/>
          <p:cNvSpPr/>
          <p:nvPr/>
        </p:nvSpPr>
        <p:spPr>
          <a:xfrm>
            <a:off x="6217920" y="3154680"/>
            <a:ext cx="52422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3246120"/>
            <a:ext cx="4876495" cy="1234440"/>
          </a:xfrm>
          <a:prstGeom prst="rect">
            <a:avLst/>
          </a:prstGeom>
          <a:noFill/>
        </p:spPr>
        <p:txBody>
          <a:bodyPr wrap="square">
            <a:spAutoFit/>
          </a:bodyPr>
          <a:lstStyle/>
          <a:p>
            <a:pPr>
              <a:spcAft>
                <a:spcPts val="300"/>
              </a:spcAft>
              <a:defRPr b="1" sz="1200">
                <a:solidFill>
                  <a:srgbClr val="D97706"/>
                </a:solidFill>
              </a:defRPr>
            </a:pPr>
            <a:r>
              <a:t>⏱️ Commuter Tolerance Ceiling &amp; Car Dependency</a:t>
            </a:r>
          </a:p>
          <a:p>
            <a:pPr>
              <a:defRPr sz="950">
                <a:solidFill>
                  <a:srgbClr val="0F172A"/>
                </a:solidFill>
              </a:defRPr>
            </a:pPr>
            <a:r>
              <a:t>• Even under the generous WRI STAMP benchmark (T = 20 min tolerance), walking reach reaches merely 24.29% (110,217 residents).</a:t>
            </a:r>
            <a:br/>
            <a:r>
              <a:t>• Three out of four residents remain completely stranded beyond walking reach.</a:t>
            </a:r>
            <a:br/>
            <a:r>
              <a:t>• Outcome: Suburban commuters default to private two-wheelers, cabs, and auto-rickshaws, exacerbating the Whitefield-ITPB arterial bottleneck.</a:t>
            </a:r>
          </a:p>
        </p:txBody>
      </p:sp>
      <p:sp>
        <p:nvSpPr>
          <p:cNvPr id="9" name="Rounded Rectangle 8"/>
          <p:cNvSpPr/>
          <p:nvPr/>
        </p:nvSpPr>
        <p:spPr>
          <a:xfrm>
            <a:off x="6217920" y="4754880"/>
            <a:ext cx="52422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846320"/>
            <a:ext cx="4876495" cy="1280160"/>
          </a:xfrm>
          <a:prstGeom prst="rect">
            <a:avLst/>
          </a:prstGeom>
          <a:noFill/>
        </p:spPr>
        <p:txBody>
          <a:bodyPr wrap="square">
            <a:spAutoFit/>
          </a:bodyPr>
          <a:lstStyle/>
          <a:p>
            <a:pPr>
              <a:spcAft>
                <a:spcPts val="300"/>
              </a:spcAft>
              <a:defRPr b="1" sz="1200">
                <a:solidFill>
                  <a:srgbClr val="2563EB"/>
                </a:solidFill>
              </a:defRPr>
            </a:pPr>
            <a:r>
              <a:t>⚡ The UrbanFluX Optimization Mandate</a:t>
            </a:r>
          </a:p>
          <a:p>
            <a:pPr>
              <a:defRPr sz="950">
                <a:solidFill>
                  <a:srgbClr val="0F172A"/>
                </a:solidFill>
              </a:defRPr>
            </a:pPr>
            <a:r>
              <a:t>• High-cost civil expansions (new metro lines or multi-lane flyovers) take 5–8 years.</a:t>
            </a:r>
            <a:br/>
            <a:r>
              <a:t>• How can low-carbon, road-filtered electric micromobility bridge this 85% first-mile chasm immediately?</a:t>
            </a:r>
            <a:br/>
            <a:r>
              <a:t>• Our solution combines submodular feeder hub siting, multi-modal isochrone routing, and realistic road safety filtering.</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2 of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10-STATION PILOT - SPATIAL ACCESSIBILITY</a:t>
            </a:r>
          </a:p>
          <a:p>
            <a:pPr>
              <a:spcAft>
                <a:spcPts val="300"/>
              </a:spcAft>
              <a:defRPr sz="2100" b="1">
                <a:solidFill>
                  <a:srgbClr val="0F172A"/>
                </a:solidFill>
                <a:latin typeface="Calibri"/>
              </a:defRPr>
            </a:pPr>
            <a:r>
              <a:t>Multi-Modal Catchment Expansion: E-Bikes Double Station Reach</a:t>
            </a:r>
          </a:p>
          <a:p>
            <a:pPr>
              <a:defRPr sz="1100">
                <a:solidFill>
                  <a:srgbClr val="64748B"/>
                </a:solidFill>
                <a:latin typeface="Calibri"/>
              </a:defRPr>
            </a:pPr>
            <a:r>
              <a:t>Doorstep e-micromobility unlocks +63,214 residents at T=15 min, surging to 171,061 at T=20 min</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1_access_map_T15_T20.png"/>
          <p:cNvPicPr>
            <a:picLocks noChangeAspect="1"/>
          </p:cNvPicPr>
          <p:nvPr/>
        </p:nvPicPr>
        <p:blipFill>
          <a:blip r:embed="rId2"/>
          <a:stretch>
            <a:fillRect/>
          </a:stretch>
        </p:blipFill>
        <p:spPr>
          <a:xfrm>
            <a:off x="822960" y="2377440"/>
            <a:ext cx="6035040" cy="3017520"/>
          </a:xfrm>
          <a:prstGeom prst="rect">
            <a:avLst/>
          </a:prstGeom>
        </p:spPr>
      </p:pic>
      <p:sp>
        <p:nvSpPr>
          <p:cNvPr id="5" name="Rounded Rectangle 4"/>
          <p:cNvSpPr/>
          <p:nvPr/>
        </p:nvSpPr>
        <p:spPr>
          <a:xfrm>
            <a:off x="7132320" y="1554480"/>
            <a:ext cx="43278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0" y="1554480"/>
            <a:ext cx="73152" cy="749808"/>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96912" y="1645920"/>
            <a:ext cx="4099255" cy="566928"/>
          </a:xfrm>
          <a:prstGeom prst="rect">
            <a:avLst/>
          </a:prstGeom>
          <a:noFill/>
        </p:spPr>
        <p:txBody>
          <a:bodyPr wrap="square" lIns="0" tIns="0" rIns="0" bIns="0">
            <a:spAutoFit/>
          </a:bodyPr>
          <a:lstStyle/>
          <a:p>
            <a:pPr>
              <a:spcAft>
                <a:spcPts val="200"/>
              </a:spcAft>
              <a:defRPr sz="850" b="1">
                <a:solidFill>
                  <a:srgbClr val="64748B"/>
                </a:solidFill>
                <a:latin typeface="Calibri"/>
              </a:defRPr>
            </a:pPr>
            <a:r>
              <a:t>WALK BASELINE (4.5 KM/H)</a:t>
            </a:r>
          </a:p>
          <a:p>
            <a:pPr>
              <a:spcAft>
                <a:spcPts val="200"/>
              </a:spcAft>
              <a:defRPr sz="2000" b="1">
                <a:solidFill>
                  <a:srgbClr val="0F172A"/>
                </a:solidFill>
                <a:latin typeface="Calibri"/>
              </a:defRPr>
            </a:pPr>
            <a:r>
              <a:t>66,417 (14.6%)</a:t>
            </a:r>
          </a:p>
          <a:p>
            <a:pPr>
              <a:defRPr sz="900" b="1">
                <a:solidFill>
                  <a:srgbClr val="059669"/>
                </a:solidFill>
                <a:latin typeface="Calibri"/>
              </a:defRPr>
            </a:pPr>
            <a:r>
              <a:t>Strictly clustered within 1 km radius</a:t>
            </a:r>
          </a:p>
        </p:txBody>
      </p:sp>
      <p:sp>
        <p:nvSpPr>
          <p:cNvPr id="8" name="Rounded Rectangle 7"/>
          <p:cNvSpPr/>
          <p:nvPr/>
        </p:nvSpPr>
        <p:spPr>
          <a:xfrm>
            <a:off x="7132320" y="2377440"/>
            <a:ext cx="43278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0" y="2377440"/>
            <a:ext cx="73152" cy="74980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96912" y="2468880"/>
            <a:ext cx="4099255" cy="566928"/>
          </a:xfrm>
          <a:prstGeom prst="rect">
            <a:avLst/>
          </a:prstGeom>
          <a:noFill/>
        </p:spPr>
        <p:txBody>
          <a:bodyPr wrap="square" lIns="0" tIns="0" rIns="0" bIns="0">
            <a:spAutoFit/>
          </a:bodyPr>
          <a:lstStyle/>
          <a:p>
            <a:pPr>
              <a:spcAft>
                <a:spcPts val="200"/>
              </a:spcAft>
              <a:defRPr sz="850" b="1">
                <a:solidFill>
                  <a:srgbClr val="64748B"/>
                </a:solidFill>
                <a:latin typeface="Calibri"/>
              </a:defRPr>
            </a:pPr>
            <a:r>
              <a:t>E-BIKE DOORSTEP UPLIFT</a:t>
            </a:r>
          </a:p>
          <a:p>
            <a:pPr>
              <a:spcAft>
                <a:spcPts val="200"/>
              </a:spcAft>
              <a:defRPr sz="2000" b="1">
                <a:solidFill>
                  <a:srgbClr val="0F172A"/>
                </a:solidFill>
                <a:latin typeface="Calibri"/>
              </a:defRPr>
            </a:pPr>
            <a:r>
              <a:t>+63,214 (+14.0%)</a:t>
            </a:r>
          </a:p>
          <a:p>
            <a:pPr>
              <a:defRPr sz="900" b="1">
                <a:solidFill>
                  <a:srgbClr val="0284C7"/>
                </a:solidFill>
                <a:latin typeface="Calibri"/>
              </a:defRPr>
            </a:pPr>
            <a:r>
              <a:t>13.5 km/h + 5m dock latency (+81 cells)</a:t>
            </a:r>
          </a:p>
        </p:txBody>
      </p:sp>
      <p:sp>
        <p:nvSpPr>
          <p:cNvPr id="11" name="Rounded Rectangle 10"/>
          <p:cNvSpPr/>
          <p:nvPr/>
        </p:nvSpPr>
        <p:spPr>
          <a:xfrm>
            <a:off x="7132320" y="3200400"/>
            <a:ext cx="43278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0" y="3200400"/>
            <a:ext cx="73152" cy="74980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96912" y="3291840"/>
            <a:ext cx="4099255" cy="566928"/>
          </a:xfrm>
          <a:prstGeom prst="rect">
            <a:avLst/>
          </a:prstGeom>
          <a:noFill/>
        </p:spPr>
        <p:txBody>
          <a:bodyPr wrap="square" lIns="0" tIns="0" rIns="0" bIns="0">
            <a:spAutoFit/>
          </a:bodyPr>
          <a:lstStyle/>
          <a:p>
            <a:pPr>
              <a:spcAft>
                <a:spcPts val="200"/>
              </a:spcAft>
              <a:defRPr sz="850" b="1">
                <a:solidFill>
                  <a:srgbClr val="64748B"/>
                </a:solidFill>
                <a:latin typeface="Calibri"/>
              </a:defRPr>
            </a:pPr>
            <a:r>
              <a:t>TOTAL ACTIVE REACH (WALK ∪ BIKE)</a:t>
            </a:r>
          </a:p>
          <a:p>
            <a:pPr>
              <a:spcAft>
                <a:spcPts val="200"/>
              </a:spcAft>
              <a:defRPr sz="2000" b="1">
                <a:solidFill>
                  <a:srgbClr val="0F172A"/>
                </a:solidFill>
                <a:latin typeface="Calibri"/>
              </a:defRPr>
            </a:pPr>
            <a:r>
              <a:t>129,631 (28.6%)</a:t>
            </a:r>
          </a:p>
          <a:p>
            <a:pPr>
              <a:defRPr sz="900" b="1">
                <a:solidFill>
                  <a:srgbClr val="2563EB"/>
                </a:solidFill>
                <a:latin typeface="Calibri"/>
              </a:defRPr>
            </a:pPr>
            <a:r>
              <a:t>Nearly DOUBLES pedestrian baseline!</a:t>
            </a:r>
          </a:p>
        </p:txBody>
      </p:sp>
      <p:sp>
        <p:nvSpPr>
          <p:cNvPr id="14" name="Rounded Rectangle 13"/>
          <p:cNvSpPr/>
          <p:nvPr/>
        </p:nvSpPr>
        <p:spPr>
          <a:xfrm>
            <a:off x="7132320" y="4023360"/>
            <a:ext cx="43278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023360"/>
            <a:ext cx="73152" cy="749808"/>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96912" y="4114800"/>
            <a:ext cx="4099255" cy="566928"/>
          </a:xfrm>
          <a:prstGeom prst="rect">
            <a:avLst/>
          </a:prstGeom>
          <a:noFill/>
        </p:spPr>
        <p:txBody>
          <a:bodyPr wrap="square" lIns="0" tIns="0" rIns="0" bIns="0">
            <a:spAutoFit/>
          </a:bodyPr>
          <a:lstStyle/>
          <a:p>
            <a:pPr>
              <a:spcAft>
                <a:spcPts val="200"/>
              </a:spcAft>
              <a:defRPr sz="850" b="1">
                <a:solidFill>
                  <a:srgbClr val="64748B"/>
                </a:solidFill>
                <a:latin typeface="Calibri"/>
              </a:defRPr>
            </a:pPr>
            <a:r>
              <a:t>WRI STAMP BENCHMARK (T = 20 MIN)</a:t>
            </a:r>
          </a:p>
          <a:p>
            <a:pPr>
              <a:spcAft>
                <a:spcPts val="200"/>
              </a:spcAft>
              <a:defRPr sz="2000" b="1">
                <a:solidFill>
                  <a:srgbClr val="0F172A"/>
                </a:solidFill>
                <a:latin typeface="Calibri"/>
              </a:defRPr>
            </a:pPr>
            <a:r>
              <a:t>171,061 (37.7%)</a:t>
            </a:r>
          </a:p>
          <a:p>
            <a:pPr>
              <a:defRPr sz="900" b="1">
                <a:solidFill>
                  <a:srgbClr val="D97706"/>
                </a:solidFill>
                <a:latin typeface="Calibri"/>
              </a:defRPr>
            </a:pPr>
            <a:r>
              <a:t>+104,644 over walk (+137 cells)</a:t>
            </a:r>
          </a:p>
        </p:txBody>
      </p:sp>
      <p:sp>
        <p:nvSpPr>
          <p:cNvPr id="17" name="Rounded Rectangle 16"/>
          <p:cNvSpPr/>
          <p:nvPr/>
        </p:nvSpPr>
        <p:spPr>
          <a:xfrm>
            <a:off x="7132320" y="4864608"/>
            <a:ext cx="4327855" cy="135331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4956048"/>
            <a:ext cx="3962095" cy="1188720"/>
          </a:xfrm>
          <a:prstGeom prst="rect">
            <a:avLst/>
          </a:prstGeom>
          <a:noFill/>
        </p:spPr>
        <p:txBody>
          <a:bodyPr wrap="square">
            <a:spAutoFit/>
          </a:bodyPr>
          <a:lstStyle/>
          <a:p>
            <a:pPr>
              <a:spcAft>
                <a:spcPts val="200"/>
              </a:spcAft>
              <a:defRPr b="1" sz="1100">
                <a:solidFill>
                  <a:srgbClr val="0F172A"/>
                </a:solidFill>
              </a:defRPr>
            </a:pPr>
            <a:r>
              <a:t>💡 Spatial Takeaway for City Planners</a:t>
            </a:r>
          </a:p>
          <a:p>
            <a:pPr>
              <a:defRPr sz="900">
                <a:solidFill>
                  <a:srgbClr val="64748B"/>
                </a:solidFill>
              </a:defRPr>
            </a:pPr>
            <a:r>
              <a:t>• In Panel A (T=15m), pedestrian reach (blue) is constrained to dense station cores. E-bikes (green) penetrate dendritic suburban layouts.</a:t>
            </a:r>
            <a:br/>
            <a:r>
              <a:t>• In Panel B (T=20m), active micromobility achieves seamless corridor contiguity across all 10 stations from Kadugodi to Garudacharpalya.</a:t>
            </a:r>
          </a:p>
        </p:txBody>
      </p:sp>
      <p:sp>
        <p:nvSpPr>
          <p:cNvPr id="19" name="Rectangle 18"/>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3 of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MATHEMATICAL OPTIMIZATION &amp; FEEDER SITING</a:t>
            </a:r>
          </a:p>
          <a:p>
            <a:pPr>
              <a:spcAft>
                <a:spcPts val="300"/>
              </a:spcAft>
              <a:defRPr sz="2100" b="1">
                <a:solidFill>
                  <a:srgbClr val="0F172A"/>
                </a:solidFill>
                <a:latin typeface="Calibri"/>
              </a:defRPr>
            </a:pPr>
            <a:r>
              <a:t>Optimal Feeder Hub Siting: (1 - 1/e) Submodular Greedy Selection</a:t>
            </a:r>
          </a:p>
          <a:p>
            <a:pPr>
              <a:defRPr sz="1100">
                <a:solidFill>
                  <a:srgbClr val="64748B"/>
                </a:solidFill>
                <a:latin typeface="Calibri"/>
              </a:defRPr>
            </a:pPr>
            <a:r>
              <a:t>Siting 15 strategic feeder hubs across 881 candidate street-corner intersections</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5_hub_siting_map_and_curve.png"/>
          <p:cNvPicPr>
            <a:picLocks noChangeAspect="1"/>
          </p:cNvPicPr>
          <p:nvPr/>
        </p:nvPicPr>
        <p:blipFill>
          <a:blip r:embed="rId2"/>
          <a:stretch>
            <a:fillRect/>
          </a:stretch>
        </p:blipFill>
        <p:spPr>
          <a:xfrm>
            <a:off x="822960" y="2446020"/>
            <a:ext cx="6035040" cy="2880360"/>
          </a:xfrm>
          <a:prstGeom prst="rect">
            <a:avLst/>
          </a:prstGeom>
        </p:spPr>
      </p:pic>
      <p:sp>
        <p:nvSpPr>
          <p:cNvPr id="5" name="Rounded Rectangle 4"/>
          <p:cNvSpPr/>
          <p:nvPr/>
        </p:nvSpPr>
        <p:spPr>
          <a:xfrm>
            <a:off x="7132320" y="1554480"/>
            <a:ext cx="43278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0" y="1645920"/>
            <a:ext cx="3962095" cy="1234440"/>
          </a:xfrm>
          <a:prstGeom prst="rect">
            <a:avLst/>
          </a:prstGeom>
          <a:noFill/>
        </p:spPr>
        <p:txBody>
          <a:bodyPr wrap="square">
            <a:spAutoFit/>
          </a:bodyPr>
          <a:lstStyle/>
          <a:p>
            <a:pPr>
              <a:spcAft>
                <a:spcPts val="200"/>
              </a:spcAft>
              <a:defRPr b="1" sz="1150">
                <a:solidFill>
                  <a:srgbClr val="2563EB"/>
                </a:solidFill>
              </a:defRPr>
            </a:pPr>
            <a:r>
              <a:t>📐 Maximum Coverage Formulation</a:t>
            </a:r>
          </a:p>
          <a:p>
            <a:pPr>
              <a:defRPr sz="900">
                <a:solidFill>
                  <a:srgbClr val="0F172A"/>
                </a:solidFill>
              </a:defRPr>
            </a:pPr>
            <a:r>
              <a:t>• Candidate Universe: V = 881 street-corner intersections from OSMnx highway network.</a:t>
            </a:r>
            <a:br/>
            <a:r>
              <a:t>• Objective: Maximize covered population f(S) subject to |S| ≤ k.</a:t>
            </a:r>
            <a:br/>
            <a:r>
              <a:t>• Diminishing Returns: f(S) is strictly monotone submodular. Each additional hub provides diminishing marginal gain as catchments overlap.</a:t>
            </a:r>
          </a:p>
        </p:txBody>
      </p:sp>
      <p:sp>
        <p:nvSpPr>
          <p:cNvPr id="7" name="Rounded Rectangle 6"/>
          <p:cNvSpPr/>
          <p:nvPr/>
        </p:nvSpPr>
        <p:spPr>
          <a:xfrm>
            <a:off x="7132320" y="3063240"/>
            <a:ext cx="43278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3154680"/>
            <a:ext cx="3962095" cy="1234440"/>
          </a:xfrm>
          <a:prstGeom prst="rect">
            <a:avLst/>
          </a:prstGeom>
          <a:noFill/>
        </p:spPr>
        <p:txBody>
          <a:bodyPr wrap="square">
            <a:spAutoFit/>
          </a:bodyPr>
          <a:lstStyle/>
          <a:p>
            <a:pPr>
              <a:spcAft>
                <a:spcPts val="200"/>
              </a:spcAft>
              <a:defRPr b="1" sz="1150">
                <a:solidFill>
                  <a:srgbClr val="059669"/>
                </a:solidFill>
              </a:defRPr>
            </a:pPr>
            <a:r>
              <a:t>⚡ Provable (1 - 1/e) Approximation Guarantee</a:t>
            </a:r>
          </a:p>
          <a:p>
            <a:pPr>
              <a:defRPr sz="900">
                <a:solidFill>
                  <a:srgbClr val="0F172A"/>
                </a:solidFill>
              </a:defRPr>
            </a:pPr>
            <a:r>
              <a:t>• Theoretical Bound: The greedy heuristic guarantees at least (1 - 1/e) ≈ 63.2% of the NP-hard optimal solution.</a:t>
            </a:r>
            <a:br/>
            <a:r>
              <a:t>• Sub-Linear Efficiency: Implemented with dynamic marginal gain caching; solves across 881 candidates in &lt; 0.12 seconds.</a:t>
            </a:r>
            <a:br/>
            <a:r>
              <a:t>• Total Yield: Siting k=15 hubs unlocks +42,752 residents.</a:t>
            </a:r>
          </a:p>
        </p:txBody>
      </p:sp>
      <p:sp>
        <p:nvSpPr>
          <p:cNvPr id="9" name="Rounded Rectangle 8"/>
          <p:cNvSpPr/>
          <p:nvPr/>
        </p:nvSpPr>
        <p:spPr>
          <a:xfrm>
            <a:off x="7132320" y="4572000"/>
            <a:ext cx="4327855"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4663440"/>
            <a:ext cx="3962095" cy="1463040"/>
          </a:xfrm>
          <a:prstGeom prst="rect">
            <a:avLst/>
          </a:prstGeom>
          <a:noFill/>
        </p:spPr>
        <p:txBody>
          <a:bodyPr wrap="square">
            <a:spAutoFit/>
          </a:bodyPr>
          <a:lstStyle/>
          <a:p>
            <a:pPr>
              <a:spcAft>
                <a:spcPts val="200"/>
              </a:spcAft>
              <a:defRPr b="1" sz="1150">
                <a:solidFill>
                  <a:srgbClr val="D97706"/>
                </a:solidFill>
              </a:defRPr>
            </a:pPr>
            <a:r>
              <a:t>🎯 Capital Decision: The Law of Diminishing Returns</a:t>
            </a:r>
          </a:p>
          <a:p>
            <a:pPr>
              <a:defRPr sz="880">
                <a:solidFill>
                  <a:srgbClr val="0F172A"/>
                </a:solidFill>
              </a:defRPr>
            </a:pPr>
            <a:r>
              <a:t>• Notice the red dashed line on the gain curve at k = 15:</a:t>
            </a:r>
            <a:br/>
            <a:r>
              <a:t>  - Hubs 1–10: High marginal returns (&gt; 3,000 residents/hub).</a:t>
            </a:r>
            <a:br/>
            <a:r>
              <a:t>  - Hubs 11–15: Steady return (&gt; 1,800 residents/hub).</a:t>
            </a:r>
            <a:br/>
            <a:r>
              <a:t>  - Past k = 15: Marginal gain flattens dramatically.</a:t>
            </a:r>
            <a:br/>
            <a:r>
              <a:t>• Policy Takeaway: Capital expenditure should deploy physical smart docks up to k=15, and transition to geofenced virtual zones beyond that!</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4 of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TRANSIT EQUITY &amp; STATION PRIORITIZATION</a:t>
            </a:r>
          </a:p>
          <a:p>
            <a:pPr>
              <a:spcAft>
                <a:spcPts val="300"/>
              </a:spcAft>
              <a:defRPr sz="2100" b="1">
                <a:solidFill>
                  <a:srgbClr val="0F172A"/>
                </a:solidFill>
                <a:latin typeface="Calibri"/>
              </a:defRPr>
            </a:pPr>
            <a:r>
              <a:t>Resolving the Hopefarm Paradox: Need vs. Ridership Balancing</a:t>
            </a:r>
          </a:p>
          <a:p>
            <a:pPr>
              <a:defRPr sz="1100">
                <a:solidFill>
                  <a:srgbClr val="64748B"/>
                </a:solidFill>
                <a:latin typeface="Calibri"/>
              </a:defRPr>
            </a:pPr>
            <a:r>
              <a:t>Why allocating feeder capital purely on existing ridership penalizes the most vulnerable transit deserts</a:t>
            </a:r>
          </a:p>
        </p:txBody>
      </p:sp>
      <p:sp>
        <p:nvSpPr>
          <p:cNvPr id="3" name="Rounded Rectangle 2"/>
          <p:cNvSpPr/>
          <p:nvPr/>
        </p:nvSpPr>
        <p:spPr>
          <a:xfrm>
            <a:off x="731520" y="1554480"/>
            <a:ext cx="53035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6_station_priority_slope.png"/>
          <p:cNvPicPr>
            <a:picLocks noChangeAspect="1"/>
          </p:cNvPicPr>
          <p:nvPr/>
        </p:nvPicPr>
        <p:blipFill>
          <a:blip r:embed="rId2"/>
          <a:stretch>
            <a:fillRect/>
          </a:stretch>
        </p:blipFill>
        <p:spPr>
          <a:xfrm>
            <a:off x="822960" y="2366010"/>
            <a:ext cx="5120640" cy="3040380"/>
          </a:xfrm>
          <a:prstGeom prst="rect">
            <a:avLst/>
          </a:prstGeom>
        </p:spPr>
      </p:pic>
      <p:sp>
        <p:nvSpPr>
          <p:cNvPr id="5" name="Rounded Rectangle 4"/>
          <p:cNvSpPr/>
          <p:nvPr/>
        </p:nvSpPr>
        <p:spPr>
          <a:xfrm>
            <a:off x="6217920" y="1554480"/>
            <a:ext cx="52422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45920"/>
            <a:ext cx="4876495" cy="1325880"/>
          </a:xfrm>
          <a:prstGeom prst="rect">
            <a:avLst/>
          </a:prstGeom>
          <a:noFill/>
        </p:spPr>
        <p:txBody>
          <a:bodyPr wrap="square">
            <a:spAutoFit/>
          </a:bodyPr>
          <a:lstStyle/>
          <a:p>
            <a:pPr>
              <a:spcAft>
                <a:spcPts val="200"/>
              </a:spcAft>
              <a:defRPr b="1" sz="1200">
                <a:solidFill>
                  <a:srgbClr val="DC2626"/>
                </a:solidFill>
              </a:defRPr>
            </a:pPr>
            <a:r>
              <a:t>🚨 The Hopefarm Paradox Discovered</a:t>
            </a:r>
          </a:p>
          <a:p>
            <a:pPr>
              <a:defRPr sz="919">
                <a:solidFill>
                  <a:srgbClr val="0F172A"/>
                </a:solidFill>
              </a:defRPr>
            </a:pPr>
            <a:r>
              <a:t>• Pure Transit Need Rank: Hopefarm Channasandra ranks #2 in unserved population (44,570 unserved residents).</a:t>
            </a:r>
            <a:br/>
            <a:r>
              <a:t>• Existing BMRCL Ridership Rank: Hopefarm drops to #8 (only 6,218 daily boardings).</a:t>
            </a:r>
            <a:br/>
            <a:r>
              <a:t>• The Planning Trap: Traditional ridership-based funding allocates all bikes to terminal stations (Kadugodi, Hoodi), completely bypassing Hopefarm despite its catastrophic road bottlenecks.</a:t>
            </a:r>
          </a:p>
        </p:txBody>
      </p:sp>
      <p:sp>
        <p:nvSpPr>
          <p:cNvPr id="7" name="Rounded Rectangle 6"/>
          <p:cNvSpPr/>
          <p:nvPr/>
        </p:nvSpPr>
        <p:spPr>
          <a:xfrm>
            <a:off x="6217920" y="3154680"/>
            <a:ext cx="52422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3246120"/>
            <a:ext cx="4876495" cy="1280160"/>
          </a:xfrm>
          <a:prstGeom prst="rect">
            <a:avLst/>
          </a:prstGeom>
          <a:noFill/>
        </p:spPr>
        <p:txBody>
          <a:bodyPr wrap="square">
            <a:spAutoFit/>
          </a:bodyPr>
          <a:lstStyle/>
          <a:p>
            <a:pPr>
              <a:spcAft>
                <a:spcPts val="200"/>
              </a:spcAft>
              <a:defRPr b="1" sz="1200">
                <a:solidFill>
                  <a:srgbClr val="2563EB"/>
                </a:solidFill>
              </a:defRPr>
            </a:pPr>
            <a:r>
              <a:t>⚖️ The UrbanFluX Composite Balancing Metric</a:t>
            </a:r>
          </a:p>
          <a:p>
            <a:pPr>
              <a:defRPr sz="919">
                <a:solidFill>
                  <a:srgbClr val="0F172A"/>
                </a:solidFill>
              </a:defRPr>
            </a:pPr>
            <a:r>
              <a:t>• Formula: Priority Score = Unserved Need (&gt;15m walk) × √(Daily Boardings)</a:t>
            </a:r>
            <a:br/>
            <a:r>
              <a:t>• Rationale: The square-root transform dampens ridership bias from terminal stations while ensuring transit equity for underserved suburban hubs.</a:t>
            </a:r>
            <a:br/>
            <a:r>
              <a:t>• Balanced Result: Hopefarm elevates to Rank #3 in overall corridor priority, ensuring it receives feeder investment.</a:t>
            </a:r>
          </a:p>
        </p:txBody>
      </p:sp>
      <p:sp>
        <p:nvSpPr>
          <p:cNvPr id="9" name="Rounded Rectangle 8"/>
          <p:cNvSpPr/>
          <p:nvPr/>
        </p:nvSpPr>
        <p:spPr>
          <a:xfrm>
            <a:off x="6217920" y="4709160"/>
            <a:ext cx="52422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800600"/>
            <a:ext cx="4876495" cy="1325880"/>
          </a:xfrm>
          <a:prstGeom prst="rect">
            <a:avLst/>
          </a:prstGeom>
          <a:noFill/>
        </p:spPr>
        <p:txBody>
          <a:bodyPr wrap="square">
            <a:spAutoFit/>
          </a:bodyPr>
          <a:lstStyle/>
          <a:p>
            <a:pPr>
              <a:spcAft>
                <a:spcPts val="200"/>
              </a:spcAft>
              <a:defRPr b="1" sz="1200">
                <a:solidFill>
                  <a:srgbClr val="059669"/>
                </a:solidFill>
              </a:defRPr>
            </a:pPr>
            <a:r>
              <a:t>📊 Top Corridor Priority Allocations</a:t>
            </a:r>
          </a:p>
          <a:p>
            <a:pPr>
              <a:defRPr sz="919">
                <a:solidFill>
                  <a:srgbClr val="0F172A"/>
                </a:solidFill>
              </a:defRPr>
            </a:pPr>
            <a:r>
              <a:t>• Rank 1: Whitefield (Kadugodi) — 53.6k unserved, 18.2k boardings (Tier 1 Priority)</a:t>
            </a:r>
            <a:br/>
            <a:r>
              <a:t>• Rank 2: Kundalahalli — 48.9k unserved, 12.4k boardings (Tier 1 Priority)</a:t>
            </a:r>
            <a:br/>
            <a:r>
              <a:t>• Rank 3: Hopefarm Channasandra — 44.6k unserved, 6.2k boardings (Tier 1 Priority)</a:t>
            </a:r>
            <a:br/>
            <a:r>
              <a:t>• Rank 4: Hoodi — 40.1k unserved, 14.5k boardings (Tier 2 Priority)</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5 of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ENGINEERING REALISM &amp; PHYSICAL BARRIER AUDITING</a:t>
            </a:r>
          </a:p>
          <a:p>
            <a:pPr>
              <a:spcAft>
                <a:spcPts val="300"/>
              </a:spcAft>
              <a:defRPr sz="2100" b="1">
                <a:solidFill>
                  <a:srgbClr val="0F172A"/>
                </a:solidFill>
                <a:latin typeface="Calibri"/>
              </a:defRPr>
            </a:pPr>
            <a:r>
              <a:t>Ground-Truth Field Audits: Physical Infrastructure Severance</a:t>
            </a:r>
          </a:p>
          <a:p>
            <a:pPr>
              <a:defRPr sz="1100">
                <a:solidFill>
                  <a:srgbClr val="64748B"/>
                </a:solidFill>
                <a:latin typeface="Calibri"/>
              </a:defRPr>
            </a:pPr>
            <a:r>
              <a:t>Identifying physical network breaks and boundary cordons that standard GIS models miss</a:t>
            </a:r>
          </a:p>
        </p:txBody>
      </p:sp>
      <p:sp>
        <p:nvSpPr>
          <p:cNvPr id="3" name="Rounded Rectangle 2"/>
          <p:cNvSpPr/>
          <p:nvPr/>
        </p:nvSpPr>
        <p:spPr>
          <a:xfrm>
            <a:off x="731520" y="1554480"/>
            <a:ext cx="525780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7_railway_severance_map.png"/>
          <p:cNvPicPr>
            <a:picLocks noChangeAspect="1"/>
          </p:cNvPicPr>
          <p:nvPr/>
        </p:nvPicPr>
        <p:blipFill>
          <a:blip r:embed="rId2"/>
          <a:stretch>
            <a:fillRect/>
          </a:stretch>
        </p:blipFill>
        <p:spPr>
          <a:xfrm>
            <a:off x="822960" y="1693783"/>
            <a:ext cx="5074920" cy="3013233"/>
          </a:xfrm>
          <a:prstGeom prst="rect">
            <a:avLst/>
          </a:prstGeom>
        </p:spPr>
      </p:pic>
      <p:sp>
        <p:nvSpPr>
          <p:cNvPr id="5" name="Rounded Rectangle 4"/>
          <p:cNvSpPr/>
          <p:nvPr/>
        </p:nvSpPr>
        <p:spPr>
          <a:xfrm>
            <a:off x="6199632" y="1554480"/>
            <a:ext cx="525780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08_western_boundary_map.png"/>
          <p:cNvPicPr>
            <a:picLocks noChangeAspect="1"/>
          </p:cNvPicPr>
          <p:nvPr/>
        </p:nvPicPr>
        <p:blipFill>
          <a:blip r:embed="rId3"/>
          <a:stretch>
            <a:fillRect/>
          </a:stretch>
        </p:blipFill>
        <p:spPr>
          <a:xfrm>
            <a:off x="6291072" y="1693783"/>
            <a:ext cx="5074920" cy="3013233"/>
          </a:xfrm>
          <a:prstGeom prst="rect">
            <a:avLst/>
          </a:prstGeom>
        </p:spPr>
      </p:pic>
      <p:sp>
        <p:nvSpPr>
          <p:cNvPr id="7" name="Rounded Rectangle 6"/>
          <p:cNvSpPr/>
          <p:nvPr/>
        </p:nvSpPr>
        <p:spPr>
          <a:xfrm>
            <a:off x="731520" y="4937760"/>
            <a:ext cx="525780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029200"/>
            <a:ext cx="4983480" cy="1143000"/>
          </a:xfrm>
          <a:prstGeom prst="rect">
            <a:avLst/>
          </a:prstGeom>
          <a:noFill/>
        </p:spPr>
        <p:txBody>
          <a:bodyPr wrap="square">
            <a:spAutoFit/>
          </a:bodyPr>
          <a:lstStyle/>
          <a:p>
            <a:pPr>
              <a:spcAft>
                <a:spcPts val="200"/>
              </a:spcAft>
              <a:defRPr b="1" sz="1100">
                <a:solidFill>
                  <a:srgbClr val="DC2626"/>
                </a:solidFill>
              </a:defRPr>
            </a:pPr>
            <a:r>
              <a:t>🚆 Railway Severance (Kadugodi / SWR Mainline)</a:t>
            </a:r>
          </a:p>
          <a:p>
            <a:pPr>
              <a:defRPr sz="880">
                <a:solidFill>
                  <a:srgbClr val="0F172A"/>
                </a:solidFill>
              </a:defRPr>
            </a:pPr>
            <a:r>
              <a:t>• The Physical Barrier: South Western Railway mainline creates a severe severance north of Whitefield station.</a:t>
            </a:r>
            <a:br/>
            <a:r>
              <a:t>• Pedestrian Detour: 3.75 km road detour vs. 1.1 km footbridge with steep stairs (bikes cannot cross!).</a:t>
            </a:r>
            <a:br/>
            <a:r>
              <a:t>• Civil ROI Action: Installing bicycle wheeling ramps (&lt; ₹15 Lakhs) reconnects 42 isolated H3 cells instantly.</a:t>
            </a:r>
          </a:p>
        </p:txBody>
      </p:sp>
      <p:sp>
        <p:nvSpPr>
          <p:cNvPr id="9" name="Rounded Rectangle 8"/>
          <p:cNvSpPr/>
          <p:nvPr/>
        </p:nvSpPr>
        <p:spPr>
          <a:xfrm>
            <a:off x="6199632" y="4937760"/>
            <a:ext cx="525780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6792" y="5029200"/>
            <a:ext cx="4983480" cy="1143000"/>
          </a:xfrm>
          <a:prstGeom prst="rect">
            <a:avLst/>
          </a:prstGeom>
          <a:noFill/>
        </p:spPr>
        <p:txBody>
          <a:bodyPr wrap="square">
            <a:spAutoFit/>
          </a:bodyPr>
          <a:lstStyle/>
          <a:p>
            <a:pPr>
              <a:spcAft>
                <a:spcPts val="200"/>
              </a:spcAft>
              <a:defRPr b="1" sz="1100">
                <a:solidFill>
                  <a:srgbClr val="2563EB"/>
                </a:solidFill>
              </a:defRPr>
            </a:pPr>
            <a:r>
              <a:t>🛡️ Western Boundary Cordon &amp; Buffer Integrity</a:t>
            </a:r>
          </a:p>
          <a:p>
            <a:pPr>
              <a:defRPr sz="880">
                <a:solidFill>
                  <a:srgbClr val="0F172A"/>
                </a:solidFill>
              </a:defRPr>
            </a:pPr>
            <a:r>
              <a:t>• Boundary Audit: Verified 17 western perimeter cells around Garudacharpalya and Hoodi.</a:t>
            </a:r>
            <a:br/>
            <a:r>
              <a:t>• Cordon Re-allocation: Proved that apparent 'unserved' fringe cells naturally fall into the catchments of Singayyanapalya and KR Puram.</a:t>
            </a:r>
            <a:br/>
            <a:r>
              <a:t>• Methodological Honesty: Prevents double-counting and ensures strictly verified population metrics.</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6 of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MODEL ROBUSTNESS &amp; SAFETY CONSTRAINTS</a:t>
            </a:r>
          </a:p>
          <a:p>
            <a:pPr>
              <a:spcAft>
                <a:spcPts val="300"/>
              </a:spcAft>
              <a:defRPr sz="2100" b="1">
                <a:solidFill>
                  <a:srgbClr val="0F172A"/>
                </a:solidFill>
                <a:latin typeface="Calibri"/>
              </a:defRPr>
            </a:pPr>
            <a:r>
              <a:t>Parametric Sensitivity &amp; Road-Class Safety Filtering</a:t>
            </a:r>
          </a:p>
          <a:p>
            <a:pPr>
              <a:defRPr sz="1100">
                <a:solidFill>
                  <a:srgbClr val="64748B"/>
                </a:solidFill>
                <a:latin typeface="Calibri"/>
              </a:defRPr>
            </a:pPr>
            <a:r>
              <a:t>Evaluating 27 speed-overhead permutations and enforcing strict cyclist safety road filters</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4_sensitivity_heatmaps.png"/>
          <p:cNvPicPr>
            <a:picLocks noChangeAspect="1"/>
          </p:cNvPicPr>
          <p:nvPr/>
        </p:nvPicPr>
        <p:blipFill>
          <a:blip r:embed="rId2"/>
          <a:stretch>
            <a:fillRect/>
          </a:stretch>
        </p:blipFill>
        <p:spPr>
          <a:xfrm>
            <a:off x="822960" y="2466190"/>
            <a:ext cx="6035040" cy="2840018"/>
          </a:xfrm>
          <a:prstGeom prst="rect">
            <a:avLst/>
          </a:prstGeom>
        </p:spPr>
      </p:pic>
      <p:sp>
        <p:nvSpPr>
          <p:cNvPr id="5" name="Rounded Rectangle 4"/>
          <p:cNvSpPr/>
          <p:nvPr/>
        </p:nvSpPr>
        <p:spPr>
          <a:xfrm>
            <a:off x="7132320" y="1554480"/>
            <a:ext cx="43278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0" y="1645920"/>
            <a:ext cx="3962095" cy="1325880"/>
          </a:xfrm>
          <a:prstGeom prst="rect">
            <a:avLst/>
          </a:prstGeom>
          <a:noFill/>
        </p:spPr>
        <p:txBody>
          <a:bodyPr wrap="square">
            <a:spAutoFit/>
          </a:bodyPr>
          <a:lstStyle/>
          <a:p>
            <a:pPr>
              <a:spcAft>
                <a:spcPts val="200"/>
              </a:spcAft>
              <a:defRPr b="1" sz="1150">
                <a:solidFill>
                  <a:srgbClr val="2563EB"/>
                </a:solidFill>
              </a:defRPr>
            </a:pPr>
            <a:r>
              <a:t>📈 Speed vs. Overhead Elasticity Insight</a:t>
            </a:r>
          </a:p>
          <a:p>
            <a:pPr>
              <a:defRPr sz="900">
                <a:solidFill>
                  <a:srgbClr val="0F172A"/>
                </a:solidFill>
              </a:defRPr>
            </a:pPr>
            <a:r>
              <a:t>• 27 Permutations Tested: Speeds v ∈ [10, 18] km/h vs. Unlock latencies t_ovh ∈ [2, 8] min.</a:t>
            </a:r>
            <a:br/>
            <a:r>
              <a:t>• Critical Elasticity Finding: Catchment expansion is far more elastic with respect to operating speed than unlock overhead.</a:t>
            </a:r>
            <a:br/>
            <a:r>
              <a:t>• A +3 km/h increase in average speed unlocks +18.4% more commuters, whereas reducing app unlock latency by 3 minutes adds only +4.2%.</a:t>
            </a:r>
          </a:p>
        </p:txBody>
      </p:sp>
      <p:sp>
        <p:nvSpPr>
          <p:cNvPr id="7" name="Rounded Rectangle 6"/>
          <p:cNvSpPr/>
          <p:nvPr/>
        </p:nvSpPr>
        <p:spPr>
          <a:xfrm>
            <a:off x="7132320" y="3154680"/>
            <a:ext cx="43278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3246120"/>
            <a:ext cx="3962095" cy="1325880"/>
          </a:xfrm>
          <a:prstGeom prst="rect">
            <a:avLst/>
          </a:prstGeom>
          <a:noFill/>
        </p:spPr>
        <p:txBody>
          <a:bodyPr wrap="square">
            <a:spAutoFit/>
          </a:bodyPr>
          <a:lstStyle/>
          <a:p>
            <a:pPr>
              <a:spcAft>
                <a:spcPts val="200"/>
              </a:spcAft>
              <a:defRPr b="1" sz="1150">
                <a:solidFill>
                  <a:srgbClr val="DC2626"/>
                </a:solidFill>
              </a:defRPr>
            </a:pPr>
            <a:r>
              <a:t>🛡️ Road-Class Safety Network Constraints</a:t>
            </a:r>
          </a:p>
          <a:p>
            <a:pPr>
              <a:defRPr sz="900">
                <a:solidFill>
                  <a:srgbClr val="0F172A"/>
                </a:solidFill>
              </a:defRPr>
            </a:pPr>
            <a:r>
              <a:t>• Unfiltered GIS models often route bicycles on high-speed expressways (Old Madras Road, NH-44).</a:t>
            </a:r>
            <a:br/>
            <a:r>
              <a:t>• Safety Filter: We explicitly excluded trunk/motorway links without dedicated cycling lanes.</a:t>
            </a:r>
            <a:br/>
            <a:r>
              <a:t>• Feeder paths are strictly restricted to cyclable residential, tertiary, and secondary roads, guaranteeing commuter safety.</a:t>
            </a:r>
          </a:p>
        </p:txBody>
      </p:sp>
      <p:sp>
        <p:nvSpPr>
          <p:cNvPr id="9" name="Rounded Rectangle 8"/>
          <p:cNvSpPr/>
          <p:nvPr/>
        </p:nvSpPr>
        <p:spPr>
          <a:xfrm>
            <a:off x="7132320" y="4754880"/>
            <a:ext cx="43278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4846320"/>
            <a:ext cx="3962095" cy="1280160"/>
          </a:xfrm>
          <a:prstGeom prst="rect">
            <a:avLst/>
          </a:prstGeom>
          <a:noFill/>
        </p:spPr>
        <p:txBody>
          <a:bodyPr wrap="square">
            <a:spAutoFit/>
          </a:bodyPr>
          <a:lstStyle/>
          <a:p>
            <a:pPr>
              <a:spcAft>
                <a:spcPts val="200"/>
              </a:spcAft>
              <a:defRPr b="1" sz="1150">
                <a:solidFill>
                  <a:srgbClr val="059669"/>
                </a:solidFill>
              </a:defRPr>
            </a:pPr>
            <a:r>
              <a:t>✅ Engineering Conservatism</a:t>
            </a:r>
          </a:p>
          <a:p>
            <a:pPr>
              <a:defRPr sz="900">
                <a:solidFill>
                  <a:srgbClr val="0F172A"/>
                </a:solidFill>
              </a:defRPr>
            </a:pPr>
            <a:r>
              <a:t>• Primary Model Baseline: v = 13.5 km/h, t_ovh = 5.0 min.</a:t>
            </a:r>
            <a:br/>
            <a:r>
              <a:t>• Sits squarely in the robust center of the parameter space, ensuring all reported metrics are conservative and fully defensible before municipal committees.</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7 of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COMPUTATIONAL SCALING - NAMMA METRO FULL NETWORK</a:t>
            </a:r>
          </a:p>
          <a:p>
            <a:pPr>
              <a:spcAft>
                <a:spcPts val="300"/>
              </a:spcAft>
              <a:defRPr sz="2100" b="1">
                <a:solidFill>
                  <a:srgbClr val="0F172A"/>
                </a:solidFill>
                <a:latin typeface="Calibri"/>
              </a:defRPr>
            </a:pPr>
            <a:r>
              <a:t>City-Wide Scaling: Complete 83-Station BMRCL Network Rollout</a:t>
            </a:r>
          </a:p>
          <a:p>
            <a:pPr>
              <a:defRPr sz="1100">
                <a:solidFill>
                  <a:srgbClr val="64748B"/>
                </a:solidFill>
                <a:latin typeface="Calibri"/>
              </a:defRPr>
            </a:pPr>
            <a:r>
              <a:t>Scaling the validated Whitefield pipeline across Bengaluru's Purple &amp; Green Metro Lines</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1_access_map_T15_T20.png"/>
          <p:cNvPicPr>
            <a:picLocks noChangeAspect="1"/>
          </p:cNvPicPr>
          <p:nvPr/>
        </p:nvPicPr>
        <p:blipFill>
          <a:blip r:embed="rId2"/>
          <a:stretch>
            <a:fillRect/>
          </a:stretch>
        </p:blipFill>
        <p:spPr>
          <a:xfrm>
            <a:off x="822960" y="2365754"/>
            <a:ext cx="6035040" cy="3040891"/>
          </a:xfrm>
          <a:prstGeom prst="rect">
            <a:avLst/>
          </a:prstGeom>
        </p:spPr>
      </p:pic>
      <p:sp>
        <p:nvSpPr>
          <p:cNvPr id="5" name="Rounded Rectangle 4"/>
          <p:cNvSpPr/>
          <p:nvPr/>
        </p:nvSpPr>
        <p:spPr>
          <a:xfrm>
            <a:off x="7132320" y="1554480"/>
            <a:ext cx="43278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0" y="1554480"/>
            <a:ext cx="73152" cy="77724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96912" y="1645920"/>
            <a:ext cx="4099255" cy="594360"/>
          </a:xfrm>
          <a:prstGeom prst="rect">
            <a:avLst/>
          </a:prstGeom>
          <a:noFill/>
        </p:spPr>
        <p:txBody>
          <a:bodyPr wrap="square" lIns="0" tIns="0" rIns="0" bIns="0">
            <a:spAutoFit/>
          </a:bodyPr>
          <a:lstStyle/>
          <a:p>
            <a:pPr>
              <a:spcAft>
                <a:spcPts val="200"/>
              </a:spcAft>
              <a:defRPr sz="850" b="1">
                <a:solidFill>
                  <a:srgbClr val="64748B"/>
                </a:solidFill>
                <a:latin typeface="Calibri"/>
              </a:defRPr>
            </a:pPr>
            <a:r>
              <a:t>CITY BUFFER POP (3 KM)</a:t>
            </a:r>
          </a:p>
          <a:p>
            <a:pPr>
              <a:spcAft>
                <a:spcPts val="200"/>
              </a:spcAft>
              <a:defRPr sz="2000" b="1">
                <a:solidFill>
                  <a:srgbClr val="0F172A"/>
                </a:solidFill>
                <a:latin typeface="Calibri"/>
              </a:defRPr>
            </a:pPr>
            <a:r>
              <a:t>4,286,735</a:t>
            </a:r>
          </a:p>
          <a:p>
            <a:pPr>
              <a:defRPr sz="900" b="1">
                <a:solidFill>
                  <a:srgbClr val="7C3AED"/>
                </a:solidFill>
                <a:latin typeface="Calibri"/>
              </a:defRPr>
            </a:pPr>
            <a:r>
              <a:t>5,726 H3 hexagons | 704k daily riders</a:t>
            </a:r>
          </a:p>
        </p:txBody>
      </p:sp>
      <p:sp>
        <p:nvSpPr>
          <p:cNvPr id="8" name="Rounded Rectangle 7"/>
          <p:cNvSpPr/>
          <p:nvPr/>
        </p:nvSpPr>
        <p:spPr>
          <a:xfrm>
            <a:off x="7132320" y="2423160"/>
            <a:ext cx="43278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0" y="2423160"/>
            <a:ext cx="73152" cy="777240"/>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96912" y="2514600"/>
            <a:ext cx="4099255" cy="594360"/>
          </a:xfrm>
          <a:prstGeom prst="rect">
            <a:avLst/>
          </a:prstGeom>
          <a:noFill/>
        </p:spPr>
        <p:txBody>
          <a:bodyPr wrap="square" lIns="0" tIns="0" rIns="0" bIns="0">
            <a:spAutoFit/>
          </a:bodyPr>
          <a:lstStyle/>
          <a:p>
            <a:pPr>
              <a:spcAft>
                <a:spcPts val="200"/>
              </a:spcAft>
              <a:defRPr sz="850" b="1">
                <a:solidFill>
                  <a:srgbClr val="64748B"/>
                </a:solidFill>
                <a:latin typeface="Calibri"/>
              </a:defRPr>
            </a:pPr>
            <a:r>
              <a:t>15-MIN PEDESTRIAN DEFICIT</a:t>
            </a:r>
          </a:p>
          <a:p>
            <a:pPr>
              <a:spcAft>
                <a:spcPts val="200"/>
              </a:spcAft>
              <a:defRPr sz="2000" b="1">
                <a:solidFill>
                  <a:srgbClr val="0F172A"/>
                </a:solidFill>
                <a:latin typeface="Calibri"/>
              </a:defRPr>
            </a:pPr>
            <a:r>
              <a:t>3,328,763 (77.7%)</a:t>
            </a:r>
          </a:p>
          <a:p>
            <a:pPr>
              <a:defRPr sz="900" b="1">
                <a:solidFill>
                  <a:srgbClr val="DC2626"/>
                </a:solidFill>
                <a:latin typeface="Calibri"/>
              </a:defRPr>
            </a:pPr>
            <a:r>
              <a:t>Stranded beyond 15m walk (walk reaches 22.3%)</a:t>
            </a:r>
          </a:p>
        </p:txBody>
      </p:sp>
      <p:sp>
        <p:nvSpPr>
          <p:cNvPr id="11" name="Rounded Rectangle 10"/>
          <p:cNvSpPr/>
          <p:nvPr/>
        </p:nvSpPr>
        <p:spPr>
          <a:xfrm>
            <a:off x="7132320" y="3291840"/>
            <a:ext cx="43278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0" y="3291840"/>
            <a:ext cx="73152" cy="77724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96912" y="3383280"/>
            <a:ext cx="4099255" cy="594360"/>
          </a:xfrm>
          <a:prstGeom prst="rect">
            <a:avLst/>
          </a:prstGeom>
          <a:noFill/>
        </p:spPr>
        <p:txBody>
          <a:bodyPr wrap="square" lIns="0" tIns="0" rIns="0" bIns="0">
            <a:spAutoFit/>
          </a:bodyPr>
          <a:lstStyle/>
          <a:p>
            <a:pPr>
              <a:spcAft>
                <a:spcPts val="200"/>
              </a:spcAft>
              <a:defRPr sz="850" b="1">
                <a:solidFill>
                  <a:srgbClr val="64748B"/>
                </a:solidFill>
                <a:latin typeface="Calibri"/>
              </a:defRPr>
            </a:pPr>
            <a:r>
              <a:t>CITY E-BIKE UPLIFT (T=15M)</a:t>
            </a:r>
          </a:p>
          <a:p>
            <a:pPr>
              <a:spcAft>
                <a:spcPts val="200"/>
              </a:spcAft>
              <a:defRPr sz="2000" b="1">
                <a:solidFill>
                  <a:srgbClr val="0F172A"/>
                </a:solidFill>
                <a:latin typeface="Calibri"/>
              </a:defRPr>
            </a:pPr>
            <a:r>
              <a:t>+898,233 (+21.0%)</a:t>
            </a:r>
          </a:p>
          <a:p>
            <a:pPr>
              <a:defRPr sz="900" b="1">
                <a:solidFill>
                  <a:srgbClr val="0284C7"/>
                </a:solidFill>
                <a:latin typeface="Calibri"/>
              </a:defRPr>
            </a:pPr>
            <a:r>
              <a:t>Surges to +1,491,128 (+34.8%) at T=20m!</a:t>
            </a:r>
          </a:p>
        </p:txBody>
      </p:sp>
      <p:sp>
        <p:nvSpPr>
          <p:cNvPr id="14" name="Rounded Rectangle 13"/>
          <p:cNvSpPr/>
          <p:nvPr/>
        </p:nvSpPr>
        <p:spPr>
          <a:xfrm>
            <a:off x="7132320" y="4160520"/>
            <a:ext cx="4327855"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4251960"/>
            <a:ext cx="3962095" cy="1874519"/>
          </a:xfrm>
          <a:prstGeom prst="rect">
            <a:avLst/>
          </a:prstGeom>
          <a:noFill/>
        </p:spPr>
        <p:txBody>
          <a:bodyPr wrap="square">
            <a:spAutoFit/>
          </a:bodyPr>
          <a:lstStyle/>
          <a:p>
            <a:pPr>
              <a:spcAft>
                <a:spcPts val="200"/>
              </a:spcAft>
              <a:defRPr b="1" sz="1150">
                <a:solidFill>
                  <a:srgbClr val="0F172A"/>
                </a:solidFill>
              </a:defRPr>
            </a:pPr>
            <a:r>
              <a:t>🏆 Top 5 City-Wide Priority Stations</a:t>
            </a:r>
          </a:p>
          <a:p>
            <a:pPr>
              <a:defRPr sz="880">
                <a:solidFill>
                  <a:srgbClr val="64748B"/>
                </a:solidFill>
              </a:defRPr>
            </a:pPr>
            <a:r>
              <a:t>1. Benniganahalli: 108.9k unserved, 25.8k riders (Score: 17.5M)</a:t>
            </a:r>
            <a:br/>
            <a:r>
              <a:t>2. Krishnarajapura: 136.8k unserved, 18.4k riders (Score: 18.5M)</a:t>
            </a:r>
            <a:br/>
            <a:r>
              <a:t>3. MG Road: 59.2k unserved, 20.9k riders (Score: 8.5M)</a:t>
            </a:r>
            <a:br/>
            <a:r>
              <a:t>4. Indiranagar: 57.9k unserved, 21.2k riders (Score: 8.4M)</a:t>
            </a:r>
            <a:br/>
            <a:r>
              <a:t>5. Konanakunte Cross: 79.7k unserved, 12.6k riders (Score: 8.9M)</a:t>
            </a:r>
            <a:br/>
            <a:r>
              <a:t>→ Eastern Arc (KR Puram/Benniganahalli) exhibits maximum immediate ROI.</a:t>
            </a:r>
          </a:p>
        </p:txBody>
      </p:sp>
      <p:sp>
        <p:nvSpPr>
          <p:cNvPr id="16" name="Rectangle 1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8 of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2563EB"/>
                </a:solidFill>
                <a:latin typeface="Calibri"/>
              </a:defRPr>
            </a:pPr>
            <a:r>
              <a:t>PRODUCTION PLATFORM &amp; DECISION SUPPORT</a:t>
            </a:r>
          </a:p>
          <a:p>
            <a:pPr>
              <a:spcAft>
                <a:spcPts val="300"/>
              </a:spcAft>
              <a:defRPr sz="2100" b="1">
                <a:solidFill>
                  <a:srgbClr val="0F172A"/>
                </a:solidFill>
                <a:latin typeface="Calibri"/>
              </a:defRPr>
            </a:pPr>
            <a:r>
              <a:t>Interactive Decision Platform: Operationalizing the Math</a:t>
            </a:r>
          </a:p>
          <a:p>
            <a:pPr>
              <a:defRPr sz="1100">
                <a:solidFill>
                  <a:srgbClr val="64748B"/>
                </a:solidFill>
                <a:latin typeface="Calibri"/>
              </a:defRPr>
            </a:pPr>
            <a:r>
              <a:t>A responsive web platform built for transport planners, public agencies (BMRCL, DULT, BMTC), and operators</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9_headline_onepager.png"/>
          <p:cNvPicPr>
            <a:picLocks noChangeAspect="1"/>
          </p:cNvPicPr>
          <p:nvPr/>
        </p:nvPicPr>
        <p:blipFill>
          <a:blip r:embed="rId2"/>
          <a:stretch>
            <a:fillRect/>
          </a:stretch>
        </p:blipFill>
        <p:spPr>
          <a:xfrm>
            <a:off x="822960" y="2199938"/>
            <a:ext cx="6035040" cy="3372522"/>
          </a:xfrm>
          <a:prstGeom prst="rect">
            <a:avLst/>
          </a:prstGeom>
        </p:spPr>
      </p:pic>
      <p:sp>
        <p:nvSpPr>
          <p:cNvPr id="5" name="Rounded Rectangle 4"/>
          <p:cNvSpPr/>
          <p:nvPr/>
        </p:nvSpPr>
        <p:spPr>
          <a:xfrm>
            <a:off x="7132320" y="1554480"/>
            <a:ext cx="43278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0" y="1645920"/>
            <a:ext cx="3962095" cy="1325880"/>
          </a:xfrm>
          <a:prstGeom prst="rect">
            <a:avLst/>
          </a:prstGeom>
          <a:noFill/>
        </p:spPr>
        <p:txBody>
          <a:bodyPr wrap="square">
            <a:spAutoFit/>
          </a:bodyPr>
          <a:lstStyle/>
          <a:p>
            <a:pPr>
              <a:spcAft>
                <a:spcPts val="200"/>
              </a:spcAft>
              <a:defRPr b="1" sz="1150">
                <a:solidFill>
                  <a:srgbClr val="2563EB"/>
                </a:solidFill>
              </a:defRPr>
            </a:pPr>
            <a:r>
              <a:t>🖥️ 9 Interactive Screening Modules</a:t>
            </a:r>
          </a:p>
          <a:p>
            <a:pPr>
              <a:defRPr sz="880">
                <a:solidFill>
                  <a:srgbClr val="0F172A"/>
                </a:solidFill>
              </a:defRPr>
            </a:pPr>
            <a:r>
              <a:t>• Reactive Folium GIS maps with layer toggles (Walk, E-Bike, Unserved).</a:t>
            </a:r>
            <a:br/>
            <a:r>
              <a:t>• Dynamic Budget Switcher: T=15 min vs. T=20 min instant re-filtering.</a:t>
            </a:r>
            <a:br/>
            <a:r>
              <a:t>• Live Hub Siting Optimizer: Adjust hub budget k from 5 to 50 with instant marginal gain recalculation.</a:t>
            </a:r>
            <a:br/>
            <a:r>
              <a:t>• Station Deep-Dives: Detailed profiles across all 10 pilot and 83 network stations.</a:t>
            </a:r>
          </a:p>
        </p:txBody>
      </p:sp>
      <p:sp>
        <p:nvSpPr>
          <p:cNvPr id="7" name="Rounded Rectangle 6"/>
          <p:cNvSpPr/>
          <p:nvPr/>
        </p:nvSpPr>
        <p:spPr>
          <a:xfrm>
            <a:off x="7132320" y="3154680"/>
            <a:ext cx="43278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3246120"/>
            <a:ext cx="3962095" cy="1325880"/>
          </a:xfrm>
          <a:prstGeom prst="rect">
            <a:avLst/>
          </a:prstGeom>
          <a:noFill/>
        </p:spPr>
        <p:txBody>
          <a:bodyPr wrap="square">
            <a:spAutoFit/>
          </a:bodyPr>
          <a:lstStyle/>
          <a:p>
            <a:pPr>
              <a:spcAft>
                <a:spcPts val="200"/>
              </a:spcAft>
              <a:defRPr b="1" sz="1150">
                <a:solidFill>
                  <a:srgbClr val="059669"/>
                </a:solidFill>
              </a:defRPr>
            </a:pPr>
            <a:r>
              <a:t>⚡ Cloud Production Architecture</a:t>
            </a:r>
          </a:p>
          <a:p>
            <a:pPr>
              <a:defRPr sz="880">
                <a:solidFill>
                  <a:srgbClr val="0F172A"/>
                </a:solidFill>
              </a:defRPr>
            </a:pPr>
            <a:r>
              <a:t>• Hosted Live on Streamlit Cloud: https://bengaluru-metro-feeder.streamlit.app</a:t>
            </a:r>
            <a:br/>
            <a:r>
              <a:t>• Zero-Latency Caching: Precomputed GeoPackage and vector caching ensure sub-second UI response times.</a:t>
            </a:r>
            <a:br/>
            <a:r>
              <a:t>• Complete Self-Contained Deployment: Zero runtime external API dependencies or rate limits.</a:t>
            </a:r>
          </a:p>
        </p:txBody>
      </p:sp>
      <p:sp>
        <p:nvSpPr>
          <p:cNvPr id="9" name="Rounded Rectangle 8"/>
          <p:cNvSpPr/>
          <p:nvPr/>
        </p:nvSpPr>
        <p:spPr>
          <a:xfrm>
            <a:off x="7132320" y="4754880"/>
            <a:ext cx="43278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4846320"/>
            <a:ext cx="3962095" cy="1280160"/>
          </a:xfrm>
          <a:prstGeom prst="rect">
            <a:avLst/>
          </a:prstGeom>
          <a:noFill/>
        </p:spPr>
        <p:txBody>
          <a:bodyPr wrap="square">
            <a:spAutoFit/>
          </a:bodyPr>
          <a:lstStyle/>
          <a:p>
            <a:pPr>
              <a:spcAft>
                <a:spcPts val="200"/>
              </a:spcAft>
              <a:defRPr b="1" sz="1150">
                <a:solidFill>
                  <a:srgbClr val="7C3AED"/>
                </a:solidFill>
              </a:defRPr>
            </a:pPr>
            <a:r>
              <a:t>📥 Open Science &amp; Municipal Data Export</a:t>
            </a:r>
          </a:p>
          <a:p>
            <a:pPr>
              <a:defRPr sz="880">
                <a:solidFill>
                  <a:srgbClr val="0F172A"/>
                </a:solidFill>
              </a:defRPr>
            </a:pPr>
            <a:r>
              <a:t>• One-Click Geospatial Exports: GeoJSON, GPKG, and CSV downloads for DULT/BMRCL engineering teams.</a:t>
            </a:r>
            <a:br/>
            <a:r>
              <a:t>• Full Open Data Stack: OSMnx, Uber H3, WorldPop 2020, BMRCL August 2025 disclosures.</a:t>
            </a:r>
            <a:br/>
            <a:r>
              <a:t>• 100% Reproducible Open Source Code on GitHub.</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latin typeface="Calibri"/>
              </a:defRPr>
            </a:pPr>
            <a:r>
              <a:t>SHIFT 2026 Sustainable e-Micromobility Hackathon | IIT (BHU) Varanasi   |   Team UrbanFluX   |   Live Platform: https://bengaluru-metro-feeder.streamlit.app   |   Slide 9 of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0284C7"/>
                </a:solidFill>
                <a:latin typeface="Calibri"/>
              </a:defRPr>
            </a:pPr>
            <a:r>
              <a:t>POLICY ROADMAP &amp; IMPLEMENTATION BLUEPRINT</a:t>
            </a:r>
          </a:p>
          <a:p>
            <a:pPr>
              <a:spcAft>
                <a:spcPts val="300"/>
              </a:spcAft>
              <a:defRPr sz="2100" b="1">
                <a:solidFill>
                  <a:srgbClr val="F1F5F9"/>
                </a:solidFill>
                <a:latin typeface="Calibri"/>
              </a:defRPr>
            </a:pPr>
            <a:r>
              <a:t>From Model to Pavement: Capital Allocation Roadmap</a:t>
            </a:r>
          </a:p>
          <a:p>
            <a:pPr>
              <a:defRPr sz="1100">
                <a:solidFill>
                  <a:srgbClr val="94A3B8"/>
                </a:solidFill>
                <a:latin typeface="Calibri"/>
              </a:defRPr>
            </a:pPr>
            <a:r>
              <a:t>A 3-phase execution strategy to transform Bengaluru's first-and-last-mile connectivity</a:t>
            </a:r>
          </a:p>
        </p:txBody>
      </p:sp>
      <p:sp>
        <p:nvSpPr>
          <p:cNvPr id="3" name="Rounded Rectangle 2"/>
          <p:cNvSpPr/>
          <p:nvPr/>
        </p:nvSpPr>
        <p:spPr>
          <a:xfrm>
            <a:off x="731520" y="1554480"/>
            <a:ext cx="3429000" cy="338328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91640"/>
            <a:ext cx="3154680" cy="3108960"/>
          </a:xfrm>
          <a:prstGeom prst="rect">
            <a:avLst/>
          </a:prstGeom>
          <a:noFill/>
        </p:spPr>
        <p:txBody>
          <a:bodyPr wrap="square">
            <a:spAutoFit/>
          </a:bodyPr>
          <a:lstStyle/>
          <a:p>
            <a:pPr>
              <a:spcAft>
                <a:spcPts val="200"/>
              </a:spcAft>
              <a:defRPr b="1" sz="1000">
                <a:solidFill>
                  <a:srgbClr val="059669"/>
                </a:solidFill>
              </a:defRPr>
            </a:pPr>
            <a:r>
              <a:t>PHASE 1: MONTHS 1–3</a:t>
            </a:r>
          </a:p>
          <a:p>
            <a:pPr>
              <a:spcAft>
                <a:spcPts val="400"/>
              </a:spcAft>
              <a:defRPr b="1" sz="1300">
                <a:solidFill>
                  <a:srgbClr val="FFFFFF"/>
                </a:solidFill>
              </a:defRPr>
            </a:pPr>
            <a:r>
              <a:t>Immediate Tactical Actions</a:t>
            </a:r>
          </a:p>
          <a:p>
            <a:pPr>
              <a:defRPr sz="880">
                <a:solidFill>
                  <a:srgbClr val="94A3B8"/>
                </a:solidFill>
              </a:defRPr>
            </a:pPr>
            <a:r>
              <a:t>• Civil Retrofits (&lt; ₹1.2 Cr):</a:t>
            </a:r>
            <a:br/>
            <a:r>
              <a:t>  - Install bicycle wheeling ramps on 12 railway/arterial footbridges (KR Puram, Kadugodi, Yeshwanthpur).</a:t>
            </a:r>
            <a:br/>
            <a:r>
              <a:t>• High-Yield Virtual Hubs:</a:t>
            </a:r>
            <a:br/>
            <a:r>
              <a:t>  - Geofence preferred parking zones at Top 10 priority stations.</a:t>
            </a:r>
            <a:br/>
            <a:r>
              <a:t>• Road Safety Markings:</a:t>
            </a:r>
            <a:br/>
            <a:r>
              <a:t>  - Paint high-visibility feeder bays and curb-cuts.</a:t>
            </a:r>
            <a:br/>
            <a:r>
              <a:t>• Rapid Win: Reconnects 42 severed cells within 90 days.</a:t>
            </a:r>
          </a:p>
        </p:txBody>
      </p:sp>
      <p:sp>
        <p:nvSpPr>
          <p:cNvPr id="5" name="Rounded Rectangle 4"/>
          <p:cNvSpPr/>
          <p:nvPr/>
        </p:nvSpPr>
        <p:spPr>
          <a:xfrm>
            <a:off x="4379976" y="1554480"/>
            <a:ext cx="3429000" cy="338328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17136" y="1691640"/>
            <a:ext cx="3154680" cy="3108960"/>
          </a:xfrm>
          <a:prstGeom prst="rect">
            <a:avLst/>
          </a:prstGeom>
          <a:noFill/>
        </p:spPr>
        <p:txBody>
          <a:bodyPr wrap="square">
            <a:spAutoFit/>
          </a:bodyPr>
          <a:lstStyle/>
          <a:p>
            <a:pPr>
              <a:spcAft>
                <a:spcPts val="200"/>
              </a:spcAft>
              <a:defRPr b="1" sz="1000">
                <a:solidFill>
                  <a:srgbClr val="0284C7"/>
                </a:solidFill>
              </a:defRPr>
            </a:pPr>
            <a:r>
              <a:t>PHASE 2: MONTHS 4–9</a:t>
            </a:r>
          </a:p>
          <a:p>
            <a:pPr>
              <a:spcAft>
                <a:spcPts val="400"/>
              </a:spcAft>
              <a:defRPr b="1" sz="1300">
                <a:solidFill>
                  <a:srgbClr val="FFFFFF"/>
                </a:solidFill>
              </a:defRPr>
            </a:pPr>
            <a:r>
              <a:t>Submodular Dock Rollout</a:t>
            </a:r>
          </a:p>
          <a:p>
            <a:pPr>
              <a:defRPr sz="880">
                <a:solidFill>
                  <a:srgbClr val="94A3B8"/>
                </a:solidFill>
              </a:defRPr>
            </a:pPr>
            <a:r>
              <a:t>• Solar Dock Deployment (₹8.5 Cr):</a:t>
            </a:r>
            <a:br/>
            <a:r>
              <a:t>  - Deploy 150 smart charging docks sited at submodular algorithm coordinates.</a:t>
            </a:r>
            <a:br/>
            <a:r>
              <a:t>• Shared E-Bike Fleets:</a:t>
            </a:r>
            <a:br/>
            <a:r>
              <a:t>  - Concession tenders for 3,000 shared e-bikes via PPP models (Yulu, Bounce, Tummoc).</a:t>
            </a:r>
            <a:br/>
            <a:r>
              <a:t>• Dynamic Fleet Balancing:</a:t>
            </a:r>
            <a:br/>
            <a:r>
              <a:t>  - Van redistribution based on morning vs. evening commute tidal flows.</a:t>
            </a:r>
            <a:br/>
            <a:r>
              <a:t>• Yield: Captures +63.2k corridor and +898k city residents.</a:t>
            </a:r>
          </a:p>
        </p:txBody>
      </p:sp>
      <p:sp>
        <p:nvSpPr>
          <p:cNvPr id="7" name="Rounded Rectangle 6"/>
          <p:cNvSpPr/>
          <p:nvPr/>
        </p:nvSpPr>
        <p:spPr>
          <a:xfrm>
            <a:off x="8028432" y="1554480"/>
            <a:ext cx="3429000" cy="338328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65592" y="1691640"/>
            <a:ext cx="3154680" cy="3108960"/>
          </a:xfrm>
          <a:prstGeom prst="rect">
            <a:avLst/>
          </a:prstGeom>
          <a:noFill/>
        </p:spPr>
        <p:txBody>
          <a:bodyPr wrap="square">
            <a:spAutoFit/>
          </a:bodyPr>
          <a:lstStyle/>
          <a:p>
            <a:pPr>
              <a:spcAft>
                <a:spcPts val="200"/>
              </a:spcAft>
              <a:defRPr b="1" sz="1000">
                <a:solidFill>
                  <a:srgbClr val="D97706"/>
                </a:solidFill>
              </a:defRPr>
            </a:pPr>
            <a:r>
              <a:t>PHASE 3: MONTHS 10–18</a:t>
            </a:r>
          </a:p>
          <a:p>
            <a:pPr>
              <a:spcAft>
                <a:spcPts val="400"/>
              </a:spcAft>
              <a:defRPr b="1" sz="1300">
                <a:solidFill>
                  <a:srgbClr val="FFFFFF"/>
                </a:solidFill>
              </a:defRPr>
            </a:pPr>
            <a:r>
              <a:t>Multi-Modal Integration</a:t>
            </a:r>
          </a:p>
          <a:p>
            <a:pPr>
              <a:defRPr sz="880">
                <a:solidFill>
                  <a:srgbClr val="94A3B8"/>
                </a:solidFill>
              </a:defRPr>
            </a:pPr>
            <a:r>
              <a:t>• Unified QR / Smart Card (₹15.0 Cr):</a:t>
            </a:r>
            <a:br/>
            <a:r>
              <a:t>  - Integrated ticketing with Namma Metro QR &amp; Namma Yatri app.</a:t>
            </a:r>
            <a:br/>
            <a:r>
              <a:t>  - Free 15-minute feeder transfer bundled with metro ticket.</a:t>
            </a:r>
            <a:br/>
            <a:r>
              <a:t>• Dedicated Infrastructure:</a:t>
            </a:r>
            <a:br/>
            <a:r>
              <a:t>  - Pop-up protected cycle tracks along high-volume feeder radials.</a:t>
            </a:r>
            <a:br/>
            <a:r>
              <a:t>• Ultimate Impact: Permanent 12–15% modal shift away from private two-wheelers.</a:t>
            </a:r>
          </a:p>
        </p:txBody>
      </p:sp>
      <p:sp>
        <p:nvSpPr>
          <p:cNvPr id="9" name="Rounded Rectangle 8"/>
          <p:cNvSpPr/>
          <p:nvPr/>
        </p:nvSpPr>
        <p:spPr>
          <a:xfrm>
            <a:off x="731520" y="5120640"/>
            <a:ext cx="10728655" cy="105156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12080"/>
            <a:ext cx="10362895" cy="868680"/>
          </a:xfrm>
          <a:prstGeom prst="rect">
            <a:avLst/>
          </a:prstGeom>
          <a:noFill/>
        </p:spPr>
        <p:txBody>
          <a:bodyPr wrap="square">
            <a:spAutoFit/>
          </a:bodyPr>
          <a:lstStyle/>
          <a:p>
            <a:pPr>
              <a:spcAft>
                <a:spcPts val="200"/>
              </a:spcAft>
              <a:defRPr sz="1100" b="1">
                <a:solidFill>
                  <a:srgbClr val="0284C7"/>
                </a:solidFill>
                <a:latin typeface="Calibri"/>
              </a:defRPr>
            </a:pPr>
            <a:r>
              <a:t>🌟 FINAL SYNTHESIS &amp; JURY DEFENSE STATEMENT</a:t>
            </a:r>
          </a:p>
          <a:p>
            <a:pPr>
              <a:defRPr sz="1000">
                <a:solidFill>
                  <a:srgbClr val="FFFFFF"/>
                </a:solidFill>
                <a:latin typeface="Calibri"/>
              </a:defRPr>
            </a:pPr>
            <a:r>
              <a:t>“Team UrbanFluX bridges Bengaluru's 3.33-million resident first-mile chasm with mathematical rigor, capital efficiency, and real-world engineering honesty. By proving provable submodular hub siting, resolving equity paradoxes, and scaling to all 83 stations, we provide a publication-ready blueprint for sustainable urban transit.”</a:t>
            </a:r>
          </a:p>
        </p:txBody>
      </p:sp>
      <p:sp>
        <p:nvSpPr>
          <p:cNvPr id="11" name="Rectangle 10"/>
          <p:cNvSpPr/>
          <p:nvPr/>
        </p:nvSpPr>
        <p:spPr>
          <a:xfrm>
            <a:off x="731520" y="6400800"/>
            <a:ext cx="10728655" cy="13716"/>
          </a:xfrm>
          <a:prstGeom prst="rect">
            <a:avLst/>
          </a:prstGeom>
          <a:solidFill>
            <a:srgbClr val="1E2945"/>
          </a:solidFill>
          <a:ln>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Calibri"/>
              </a:defRPr>
            </a:pPr>
            <a:r>
              <a:t>SHIFT 2026 Sustainable e-Micromobility Hackathon | IIT (BHU) Varanasi   |   Team UrbanFluX   |   Live Platform: https://bengaluru-metro-feeder.streamlit.app   |   Slide 10 of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